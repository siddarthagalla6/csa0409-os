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multi-user Linux server lets many users work at the same time, usually through SSH or terminals. Each user has a unique UID, and every process runs with that identity. The diagram shows the layers. Users run applications, applications never touch hardware directly, and the kernel sits between them and the CPU, RAM, disk and network card. The kernel shares these resources fairly among users. The only legal way for an application to ask the kernel for a service is a system call, and shared files and devices are protected by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system acts as a resource manager, and this slide shows its five main functions. Process management handles CPU scheduling, using the Completely Fair Scheduler in Linux, along with fork, exec and signals. Memory management provides virtual memory, paging and swapping, so each process gets its own address space. File management uses the Virtual File System, inodes and the page cache. Device management uses drivers, interrupts and DMA, and exposes devices through /dev. Security and protection use UID, GID and permission bits to isolate users from each other. Together these goals are fairness, efficiency, isolation and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provides a small set of system calls for working with files. open takes a path and flags and returns a file descriptor, which is a small integer used for all later operations. read and write move data between the file and a user buffer. close releases the descriptor. lseek moves the file offset, stat reads inode metadata such as size, owner and permissions, and unlink removes a directory entry. The flow on the right shows the path of a request: the application issues the call, the system call interface traps into the kernel, the VFS checks permissions and looks up the descriptor, the file system such as ext4 maps the file to disk blocks, and finally the storage device is accessed.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Linux, devices are treated as files. Each device has a special file under /dev, for example /dev/sda for a disk or /dev/tty for a terminal. Character devices transfer a stream of bytes, like a terminal. Block devices transfer fixed-size blocks, like a disk. Each device is identified by a major number, which selects the driver, and a minor number, which selects the specific device. The same calls, open, read, write and close, work on devices. For operations that do not fit read and write, such as setting the baud rate of a serial port, Linux provides ioctl. The flow at the top shows the request passing from the process through the kernel to the device driver and then to the hardware, with the driver hiding hardware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topic. The CPU runs in two modes. User Mode, or Ring 3, has restricted instructions and no direct hardware access. Kernel Mode, or Ring 0, has full privilege. Follow the flow: step 1, the application calls a function such as open. Step 2, the C library wrapper places the system call number and arguments in registers and executes the trap instruction. Step 3, the CPU switches to Kernel Mode, and the kernel validates the arguments and performs the service. Step 4, the kernel accesses the disk, device or memory. Step 5, the result or an error code, errno, is returned and the CPU switches back to User Mode. This design protects the system, because a faulty user program cannot damage the kernel or other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practical scenario. Alice and Bob are in the group dev, and both use the file /srv/shared/report.txt, which is owned by alice with group dev and permissions rw-rw-r--. When either process calls open, the kernel first runs the permission check, comparing the process UID and GID with the file's owner, group and mode bits. If allowed, the kernel creates an entry in the open file table and returns a file descriptor from that process's own descriptor table. Both users can access the same inode, and the page cache keeps their view consistent. For concurrent writes, processes can coordinate using advisory locks such as flock and fcntl. So ownership, permissions, locking and file descriptors together make shared access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first, the OS manages processes, memory, files, devices and security as shared resources. Second, file and device operations use a small set of system calls, namely open, read, write, close, lseek, stat, unlink and ioctl. Third, user processes and the kernel interact through the system call interface, switching between User Mode and Kernel Mode. The bottom line is this: user processes make system calls, the Linux kernel checks and performs the request, and the system resources are used safely. This is how a multi-user Linux server provides controlled file sharing and device access. 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first, the OS manages processes, memory, files, devices and security as shared resources. Second, file and device operations use a small set of system calls, namely open, read, write, close, lseek, stat, unlink and ioctl. Third, user processes and the kernel interact through the system call interface, switching between User Mode and Kernel Mode. The bottom line is this: user processes make system calls, the Linux kernel checks and performs the request, and the system resources are used safely. This is how a multi-user Linux server provides controlled file sharing and device access. 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F3A5F"/>
          </a:solidFill>
          <a:ln w="12700">
            <a:solidFill>
              <a:srgbClr val="1F3A5F"/>
            </a:solidFill>
            <a:prstDash val="solid"/>
          </a:ln>
        </p:spPr>
      </p:sp>
      <p:sp>
        <p:nvSpPr>
          <p:cNvPr id="3" name="Text 1"/>
          <p:cNvSpPr txBox="1"/>
          <p:nvPr/>
        </p:nvSpPr>
        <p:spPr>
          <a:xfrm>
            <a:off x="640080" y="640080"/>
            <a:ext cx="5029200" cy="320040"/>
          </a:xfrm>
          <a:prstGeom prst="rect">
            <a:avLst/>
          </a:prstGeom>
          <a:noFill/>
        </p:spPr>
        <p:txBody>
          <a:bodyPr wrap="square" lIns="635" tIns="635" rIns="635" bIns="635" rtlCol="0" anchor="t"/>
          <a:lstStyle/>
          <a:p>
            <a:pPr marL="0" indent="0" algn="l">
              <a:buNone/>
            </a:pPr>
            <a:r>
              <a:rPr lang="en-US" sz="1300" b="1" kern="0" spc="3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a:t>
            </a:r>
            <a:endParaRPr lang="en-US" sz="1300" dirty="0"/>
          </a:p>
        </p:txBody>
      </p:sp>
      <p:sp>
        <p:nvSpPr>
          <p:cNvPr id="4" name="Text 2"/>
          <p:cNvSpPr txBox="1"/>
          <p:nvPr/>
        </p:nvSpPr>
        <p:spPr>
          <a:xfrm>
            <a:off x="640080" y="1051560"/>
            <a:ext cx="5303520" cy="1737360"/>
          </a:xfrm>
          <a:prstGeom prst="rect">
            <a:avLst/>
          </a:prstGeom>
          <a:noFill/>
        </p:spPr>
        <p:txBody>
          <a:bodyPr wrap="square" lIns="635" tIns="635" rIns="635" bIns="635" rtlCol="0" anchor="t"/>
          <a:lstStyle/>
          <a:p>
            <a:pPr marL="0" indent="0" algn="l">
              <a:buNone/>
            </a:pPr>
            <a:r>
              <a:rPr lang="en-US" sz="2800" b="1" dirty="0">
                <a:solidFill>
                  <a:srgbClr val="1F3A5F"/>
                </a:solidFill>
                <a:latin typeface="Calibri" panose="020F0502020204030204" pitchFamily="34" charset="0"/>
                <a:ea typeface="Calibri" panose="020F0502020204030204" pitchFamily="34" charset="-122"/>
                <a:cs typeface="Calibri" panose="020F0502020204030204" pitchFamily="34" charset="-120"/>
              </a:rPr>
              <a:t>Resource Management, System Calls and User–Kernel Interaction</a:t>
            </a:r>
            <a:r>
              <a:rPr lang="en-US" sz="2800" dirty="0">
                <a:solidFill>
                  <a:srgbClr val="222222"/>
                </a:solidFill>
                <a:latin typeface="Calibri" panose="020F0502020204030204" pitchFamily="34" charset="0"/>
                <a:ea typeface="Calibri" panose="020F0502020204030204" pitchFamily="34" charset="-122"/>
                <a:cs typeface="Calibri" panose="020F0502020204030204" pitchFamily="34" charset="-120"/>
              </a:rPr>
              <a:t> in a Multi-User Linux Server</a:t>
            </a:r>
            <a:endParaRPr lang="en-US" sz="2800" dirty="0"/>
          </a:p>
        </p:txBody>
      </p:sp>
      <p:sp>
        <p:nvSpPr>
          <p:cNvPr id="5" name="Shape 3"/>
          <p:cNvSpPr/>
          <p:nvPr/>
        </p:nvSpPr>
        <p:spPr>
          <a:xfrm>
            <a:off x="685800" y="2926080"/>
            <a:ext cx="1097280" cy="36576"/>
          </a:xfrm>
          <a:prstGeom prst="rect">
            <a:avLst/>
          </a:prstGeom>
          <a:solidFill>
            <a:srgbClr val="1F3A5F"/>
          </a:solidFill>
          <a:ln w="12700">
            <a:solidFill>
              <a:srgbClr val="1F3A5F"/>
            </a:solidFill>
            <a:prstDash val="solid"/>
          </a:ln>
        </p:spPr>
      </p:sp>
      <p:sp>
        <p:nvSpPr>
          <p:cNvPr id="6" name="Text 4"/>
          <p:cNvSpPr txBox="1"/>
          <p:nvPr/>
        </p:nvSpPr>
        <p:spPr>
          <a:xfrm>
            <a:off x="640080" y="3108960"/>
            <a:ext cx="5029200" cy="1280160"/>
          </a:xfrm>
          <a:prstGeom prst="rect">
            <a:avLst/>
          </a:prstGeom>
          <a:noFill/>
        </p:spPr>
        <p:txBody>
          <a:bodyPr wrap="square" lIns="635" tIns="635" rIns="635" bIns="635" rtlCol="0" anchor="t"/>
          <a:lstStyle/>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Student:</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Galla Sai Siddartha</a:t>
            </a:r>
            <a:endParaRPr lang="en-US" sz="1500" dirty="0"/>
          </a:p>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Register No:</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192425093</a:t>
            </a:r>
            <a:endParaRPr lang="en-US" sz="1500" dirty="0"/>
          </a:p>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Faculty:</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GEETHA P</a:t>
            </a:r>
            <a:endParaRPr lang="en-US" sz="1500" dirty="0"/>
          </a:p>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Course:</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Operating Systems</a:t>
            </a:r>
            <a:endParaRPr lang="en-US" sz="1500" dirty="0"/>
          </a:p>
        </p:txBody>
      </p:sp>
      <p:sp>
        <p:nvSpPr>
          <p:cNvPr id="7" name="Text 5"/>
          <p:cNvSpPr txBox="1"/>
          <p:nvPr/>
        </p:nvSpPr>
        <p:spPr>
          <a:xfrm>
            <a:off x="6309360" y="1005840"/>
            <a:ext cx="228600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Users / Applications</a:t>
            </a:r>
            <a:endParaRPr lang="en-US" sz="1300" dirty="0"/>
          </a:p>
        </p:txBody>
      </p:sp>
      <p:sp>
        <p:nvSpPr>
          <p:cNvPr id="8" name="Shape 6"/>
          <p:cNvSpPr/>
          <p:nvPr/>
        </p:nvSpPr>
        <p:spPr>
          <a:xfrm>
            <a:off x="6446520" y="1097280"/>
            <a:ext cx="91440" cy="91440"/>
          </a:xfrm>
          <a:prstGeom prst="ellipse">
            <a:avLst/>
          </a:prstGeom>
          <a:solidFill>
            <a:srgbClr val="1F3A5F"/>
          </a:solidFill>
          <a:ln w="12700">
            <a:solidFill>
              <a:srgbClr val="1F3A5F"/>
            </a:solidFill>
            <a:prstDash val="solid"/>
          </a:ln>
        </p:spPr>
      </p:sp>
      <p:sp>
        <p:nvSpPr>
          <p:cNvPr id="9" name="Shape 7"/>
          <p:cNvSpPr/>
          <p:nvPr/>
        </p:nvSpPr>
        <p:spPr>
          <a:xfrm>
            <a:off x="6629400" y="1097280"/>
            <a:ext cx="91440" cy="91440"/>
          </a:xfrm>
          <a:prstGeom prst="ellipse">
            <a:avLst/>
          </a:prstGeom>
          <a:solidFill>
            <a:srgbClr val="1F3A5F"/>
          </a:solidFill>
          <a:ln w="12700">
            <a:solidFill>
              <a:srgbClr val="1F3A5F"/>
            </a:solidFill>
            <a:prstDash val="solid"/>
          </a:ln>
        </p:spPr>
      </p:sp>
      <p:sp>
        <p:nvSpPr>
          <p:cNvPr id="10" name="Shape 8"/>
          <p:cNvSpPr/>
          <p:nvPr/>
        </p:nvSpPr>
        <p:spPr>
          <a:xfrm>
            <a:off x="7452360" y="1783080"/>
            <a:ext cx="0" cy="365760"/>
          </a:xfrm>
          <a:prstGeom prst="line">
            <a:avLst/>
          </a:prstGeom>
          <a:noFill/>
          <a:ln w="22225">
            <a:solidFill>
              <a:srgbClr val="1F3A5F"/>
            </a:solidFill>
            <a:prstDash val="solid"/>
            <a:tailEnd type="triangle"/>
          </a:ln>
        </p:spPr>
      </p:sp>
      <p:sp>
        <p:nvSpPr>
          <p:cNvPr id="11" name="Text 9"/>
          <p:cNvSpPr txBox="1"/>
          <p:nvPr/>
        </p:nvSpPr>
        <p:spPr>
          <a:xfrm>
            <a:off x="6309360" y="2148840"/>
            <a:ext cx="2286000" cy="777240"/>
          </a:xfrm>
          <a:prstGeom prst="roundRect">
            <a:avLst>
              <a:gd name="adj" fmla="val 9412"/>
            </a:avLst>
          </a:prstGeom>
          <a:solidFill>
            <a:srgbClr val="1F3A5F"/>
          </a:solidFill>
          <a:ln w="12700">
            <a:solidFill>
              <a:srgbClr val="1F3A5F"/>
            </a:solidFill>
          </a:ln>
        </p:spPr>
        <p:txBody>
          <a:bodyPr wrap="square" lIns="508" tIns="508" rIns="508" bIns="508" rtlCol="0" anchor="ctr"/>
          <a:lstStyle/>
          <a:p>
            <a:pPr marL="0" indent="0" algn="ct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Linux Kernel</a:t>
            </a:r>
            <a:endParaRPr lang="en-US" sz="1300" dirty="0"/>
          </a:p>
        </p:txBody>
      </p:sp>
      <p:sp>
        <p:nvSpPr>
          <p:cNvPr id="12" name="Shape 10"/>
          <p:cNvSpPr/>
          <p:nvPr/>
        </p:nvSpPr>
        <p:spPr>
          <a:xfrm>
            <a:off x="6446520" y="2240280"/>
            <a:ext cx="91440" cy="91440"/>
          </a:xfrm>
          <a:prstGeom prst="ellipse">
            <a:avLst/>
          </a:prstGeom>
          <a:solidFill>
            <a:srgbClr val="FFFFFF"/>
          </a:solidFill>
          <a:ln w="12700">
            <a:solidFill>
              <a:srgbClr val="1F3A5F"/>
            </a:solidFill>
            <a:prstDash val="solid"/>
          </a:ln>
        </p:spPr>
      </p:sp>
      <p:sp>
        <p:nvSpPr>
          <p:cNvPr id="13" name="Shape 11"/>
          <p:cNvSpPr/>
          <p:nvPr/>
        </p:nvSpPr>
        <p:spPr>
          <a:xfrm>
            <a:off x="6629400" y="2240280"/>
            <a:ext cx="91440" cy="91440"/>
          </a:xfrm>
          <a:prstGeom prst="ellipse">
            <a:avLst/>
          </a:prstGeom>
          <a:solidFill>
            <a:srgbClr val="FFFFFF"/>
          </a:solidFill>
          <a:ln w="12700">
            <a:solidFill>
              <a:srgbClr val="1F3A5F"/>
            </a:solidFill>
            <a:prstDash val="solid"/>
          </a:ln>
        </p:spPr>
      </p:sp>
      <p:sp>
        <p:nvSpPr>
          <p:cNvPr id="14" name="Shape 12"/>
          <p:cNvSpPr/>
          <p:nvPr/>
        </p:nvSpPr>
        <p:spPr>
          <a:xfrm>
            <a:off x="7452360" y="2926080"/>
            <a:ext cx="0" cy="365760"/>
          </a:xfrm>
          <a:prstGeom prst="line">
            <a:avLst/>
          </a:prstGeom>
          <a:noFill/>
          <a:ln w="22225">
            <a:solidFill>
              <a:srgbClr val="1F3A5F"/>
            </a:solidFill>
            <a:prstDash val="solid"/>
            <a:tailEnd type="triangle"/>
          </a:ln>
        </p:spPr>
      </p:sp>
      <p:sp>
        <p:nvSpPr>
          <p:cNvPr id="15" name="Text 13"/>
          <p:cNvSpPr txBox="1"/>
          <p:nvPr/>
        </p:nvSpPr>
        <p:spPr>
          <a:xfrm>
            <a:off x="6309360" y="3291840"/>
            <a:ext cx="228600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CPU · Memory · Disk</a:t>
            </a:r>
            <a:endParaRPr lang="en-US" sz="1300" dirty="0"/>
          </a:p>
        </p:txBody>
      </p:sp>
      <p:sp>
        <p:nvSpPr>
          <p:cNvPr id="16" name="Shape 14"/>
          <p:cNvSpPr/>
          <p:nvPr/>
        </p:nvSpPr>
        <p:spPr>
          <a:xfrm>
            <a:off x="6446520" y="3383280"/>
            <a:ext cx="91440" cy="91440"/>
          </a:xfrm>
          <a:prstGeom prst="ellipse">
            <a:avLst/>
          </a:prstGeom>
          <a:solidFill>
            <a:srgbClr val="1F3A5F"/>
          </a:solidFill>
          <a:ln w="12700">
            <a:solidFill>
              <a:srgbClr val="1F3A5F"/>
            </a:solidFill>
            <a:prstDash val="solid"/>
          </a:ln>
        </p:spPr>
      </p:sp>
      <p:sp>
        <p:nvSpPr>
          <p:cNvPr id="17" name="Shape 15"/>
          <p:cNvSpPr/>
          <p:nvPr/>
        </p:nvSpPr>
        <p:spPr>
          <a:xfrm>
            <a:off x="6629400" y="3383280"/>
            <a:ext cx="91440" cy="91440"/>
          </a:xfrm>
          <a:prstGeom prst="ellipse">
            <a:avLst/>
          </a:prstGeom>
          <a:solidFill>
            <a:srgbClr val="1F3A5F"/>
          </a:solidFill>
          <a:ln w="12700">
            <a:solidFill>
              <a:srgbClr val="1F3A5F"/>
            </a:solidFill>
            <a:prstDash val="solid"/>
          </a:ln>
        </p:spPr>
      </p:sp>
      <p:sp>
        <p:nvSpPr>
          <p:cNvPr id="18" name="Text 16"/>
          <p:cNvSpPr txBox="1"/>
          <p:nvPr/>
        </p:nvSpPr>
        <p:spPr>
          <a:xfrm>
            <a:off x="6309360" y="4434840"/>
            <a:ext cx="2286000" cy="274320"/>
          </a:xfrm>
          <a:prstGeom prst="rect">
            <a:avLst/>
          </a:prstGeom>
          <a:noFill/>
        </p:spPr>
        <p:txBody>
          <a:bodyPr wrap="square" lIns="635" tIns="635" rIns="635" bIns="635" rtlCol="0" anchor="t"/>
          <a:lstStyle/>
          <a:p>
            <a:pPr marL="0" indent="0" algn="ctr">
              <a:buNone/>
            </a:pPr>
            <a:r>
              <a:rPr lang="en-US" sz="1000" i="1" dirty="0">
                <a:solidFill>
                  <a:srgbClr val="6B6B6B"/>
                </a:solidFill>
                <a:latin typeface="Calibri" panose="020F0502020204030204" pitchFamily="34" charset="0"/>
                <a:ea typeface="Calibri" panose="020F0502020204030204" pitchFamily="34" charset="-122"/>
                <a:cs typeface="Calibri" panose="020F0502020204030204" pitchFamily="34" charset="-120"/>
              </a:rPr>
              <a:t>Linux server stack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Multi-User Linux Server Environment</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
        <p:nvSpPr>
          <p:cNvPr id="6" name="Text 4"/>
          <p:cNvSpPr txBox="1"/>
          <p:nvPr/>
        </p:nvSpPr>
        <p:spPr>
          <a:xfrm>
            <a:off x="457200" y="1044702"/>
            <a:ext cx="4023360" cy="3108960"/>
          </a:xfrm>
          <a:prstGeom prst="rect">
            <a:avLst/>
          </a:prstGeom>
          <a:noFill/>
        </p:spPr>
        <p:txBody>
          <a:bodyPr wrap="square" lIns="635" tIns="635" rIns="635" bIns="635" rtlCol="0" anchor="t"/>
          <a:lstStyle/>
          <a:p>
            <a:pPr marL="0" indent="0" algn="l">
              <a:spcAft>
                <a:spcPts val="600"/>
              </a:spcAft>
              <a:buSzPct val="100000"/>
              <a:buNone/>
            </a:pP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Multi-user</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many users work at once via SSH and terminals</a:t>
            </a:r>
            <a:endParaRPr lang="en-US" sz="1400" dirty="0"/>
          </a:p>
          <a:p>
            <a:pPr marL="0" indent="0" algn="l">
              <a:spcAft>
                <a:spcPts val="600"/>
              </a:spcAft>
              <a:buSzPct val="10000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Every user has a unique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UID</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processes run with that identity</a:t>
            </a:r>
            <a:endParaRPr lang="en-US" sz="1400" dirty="0"/>
          </a:p>
          <a:p>
            <a:pPr marL="0" indent="0" algn="l">
              <a:spcAft>
                <a:spcPts val="600"/>
              </a:spcAft>
              <a:buSzPct val="10000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The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shares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CPU</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Memory</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disks and I/O among users</a:t>
            </a:r>
            <a:endParaRPr lang="en-US" sz="1400" dirty="0"/>
          </a:p>
          <a:p>
            <a:pPr marL="0" indent="0" algn="l">
              <a:spcAft>
                <a:spcPts val="600"/>
              </a:spcAft>
              <a:buSzPct val="10000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Users never touch hardware directly; they use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System Calls</a:t>
            </a:r>
            <a:endParaRPr lang="en-US" sz="1400" dirty="0"/>
          </a:p>
          <a:p>
            <a:pPr marL="0" indent="0" algn="l">
              <a:spcAft>
                <a:spcPts val="600"/>
              </a:spcAft>
              <a:buSzPct val="10000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Shared files and devices are protected by </a:t>
            </a: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Permissions</a:t>
            </a:r>
            <a:endParaRPr lang="en-US" sz="1400" dirty="0"/>
          </a:p>
        </p:txBody>
      </p:sp>
      <p:sp>
        <p:nvSpPr>
          <p:cNvPr id="7" name="Text 5"/>
          <p:cNvSpPr txBox="1"/>
          <p:nvPr/>
        </p:nvSpPr>
        <p:spPr>
          <a:xfrm>
            <a:off x="4791456" y="1083564"/>
            <a:ext cx="1267968" cy="505206"/>
          </a:xfrm>
          <a:prstGeom prst="roundRect">
            <a:avLst>
              <a:gd name="adj" fmla="val 14480"/>
            </a:avLst>
          </a:prstGeom>
          <a:solidFill>
            <a:srgbClr val="EAF0F7"/>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User A</a:t>
            </a:r>
            <a:endParaRPr lang="en-US" sz="1200" dirty="0"/>
          </a:p>
        </p:txBody>
      </p:sp>
      <p:sp>
        <p:nvSpPr>
          <p:cNvPr id="8" name="Text 6"/>
          <p:cNvSpPr txBox="1"/>
          <p:nvPr/>
        </p:nvSpPr>
        <p:spPr>
          <a:xfrm>
            <a:off x="6132576" y="1083564"/>
            <a:ext cx="1267968" cy="505206"/>
          </a:xfrm>
          <a:prstGeom prst="roundRect">
            <a:avLst>
              <a:gd name="adj" fmla="val 14480"/>
            </a:avLst>
          </a:prstGeom>
          <a:solidFill>
            <a:srgbClr val="EAF0F7"/>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User B</a:t>
            </a:r>
            <a:endParaRPr lang="en-US" sz="1200" dirty="0"/>
          </a:p>
        </p:txBody>
      </p:sp>
      <p:sp>
        <p:nvSpPr>
          <p:cNvPr id="9" name="Text 7"/>
          <p:cNvSpPr txBox="1"/>
          <p:nvPr/>
        </p:nvSpPr>
        <p:spPr>
          <a:xfrm>
            <a:off x="7473696" y="1083564"/>
            <a:ext cx="1267968" cy="505206"/>
          </a:xfrm>
          <a:prstGeom prst="roundRect">
            <a:avLst>
              <a:gd name="adj" fmla="val 14480"/>
            </a:avLst>
          </a:prstGeom>
          <a:solidFill>
            <a:srgbClr val="EAF0F7"/>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User C</a:t>
            </a:r>
            <a:endParaRPr lang="en-US" sz="1200" dirty="0"/>
          </a:p>
        </p:txBody>
      </p:sp>
      <p:sp>
        <p:nvSpPr>
          <p:cNvPr id="10" name="Shape 8"/>
          <p:cNvSpPr/>
          <p:nvPr/>
        </p:nvSpPr>
        <p:spPr>
          <a:xfrm>
            <a:off x="6766560" y="1588770"/>
            <a:ext cx="0" cy="272034"/>
          </a:xfrm>
          <a:prstGeom prst="line">
            <a:avLst/>
          </a:prstGeom>
          <a:noFill/>
          <a:ln w="22225">
            <a:solidFill>
              <a:srgbClr val="1F3A5F"/>
            </a:solidFill>
            <a:prstDash val="solid"/>
            <a:tailEnd type="triangle"/>
          </a:ln>
        </p:spPr>
      </p:sp>
      <p:sp>
        <p:nvSpPr>
          <p:cNvPr id="11" name="Text 9"/>
          <p:cNvSpPr txBox="1"/>
          <p:nvPr/>
        </p:nvSpPr>
        <p:spPr>
          <a:xfrm>
            <a:off x="4754880" y="1860804"/>
            <a:ext cx="4023360" cy="466344"/>
          </a:xfrm>
          <a:prstGeom prst="roundRect">
            <a:avLst>
              <a:gd name="adj" fmla="val 15686"/>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Applications (shell, editor, DB)</a:t>
            </a:r>
            <a:endParaRPr lang="en-US" sz="1200" dirty="0"/>
          </a:p>
        </p:txBody>
      </p:sp>
      <p:sp>
        <p:nvSpPr>
          <p:cNvPr id="12" name="Shape 10"/>
          <p:cNvSpPr/>
          <p:nvPr/>
        </p:nvSpPr>
        <p:spPr>
          <a:xfrm>
            <a:off x="6766560" y="2327148"/>
            <a:ext cx="0" cy="272034"/>
          </a:xfrm>
          <a:prstGeom prst="line">
            <a:avLst/>
          </a:prstGeom>
          <a:noFill/>
          <a:ln w="22225">
            <a:solidFill>
              <a:srgbClr val="1F3A5F"/>
            </a:solidFill>
            <a:prstDash val="solid"/>
            <a:tailEnd type="triangle"/>
          </a:ln>
        </p:spPr>
      </p:sp>
      <p:sp>
        <p:nvSpPr>
          <p:cNvPr id="13" name="Text 11"/>
          <p:cNvSpPr txBox="1"/>
          <p:nvPr/>
        </p:nvSpPr>
        <p:spPr>
          <a:xfrm>
            <a:off x="4754880" y="2599182"/>
            <a:ext cx="4023360" cy="660654"/>
          </a:xfrm>
          <a:prstGeom prst="roundRect">
            <a:avLst>
              <a:gd name="adj" fmla="val 11073"/>
            </a:avLst>
          </a:prstGeom>
          <a:solidFill>
            <a:srgbClr val="1F3A5F"/>
          </a:solidFill>
          <a:ln w="12700">
            <a:solidFill>
              <a:srgbClr val="1F3A5F"/>
            </a:solidFill>
          </a:ln>
        </p:spPr>
        <p:txBody>
          <a:bodyPr wrap="square" lIns="508" tIns="508" rIns="508" bIns="508"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Linux Kernel</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Scheduler · Memory Mgr · VFS · Drivers</a:t>
            </a:r>
            <a:endParaRPr lang="en-US" sz="1200" dirty="0"/>
          </a:p>
        </p:txBody>
      </p:sp>
      <p:sp>
        <p:nvSpPr>
          <p:cNvPr id="14" name="Shape 12"/>
          <p:cNvSpPr/>
          <p:nvPr/>
        </p:nvSpPr>
        <p:spPr>
          <a:xfrm>
            <a:off x="6766560" y="3259836"/>
            <a:ext cx="0" cy="194310"/>
          </a:xfrm>
          <a:prstGeom prst="line">
            <a:avLst/>
          </a:prstGeom>
          <a:noFill/>
          <a:ln w="22225">
            <a:solidFill>
              <a:srgbClr val="1F3A5F"/>
            </a:solidFill>
            <a:prstDash val="solid"/>
            <a:tailEnd type="triangle"/>
          </a:ln>
        </p:spPr>
      </p:sp>
      <p:sp>
        <p:nvSpPr>
          <p:cNvPr id="15" name="Text 13"/>
          <p:cNvSpPr txBox="1"/>
          <p:nvPr/>
        </p:nvSpPr>
        <p:spPr>
          <a:xfrm>
            <a:off x="4791456" y="3454146"/>
            <a:ext cx="932688" cy="505206"/>
          </a:xfrm>
          <a:prstGeom prst="roundRect">
            <a:avLst>
              <a:gd name="adj" fmla="val 14480"/>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CPU</a:t>
            </a:r>
            <a:endParaRPr lang="en-US" sz="1200" dirty="0"/>
          </a:p>
        </p:txBody>
      </p:sp>
      <p:sp>
        <p:nvSpPr>
          <p:cNvPr id="16" name="Text 14"/>
          <p:cNvSpPr txBox="1"/>
          <p:nvPr/>
        </p:nvSpPr>
        <p:spPr>
          <a:xfrm>
            <a:off x="5797296" y="3454146"/>
            <a:ext cx="932688" cy="505206"/>
          </a:xfrm>
          <a:prstGeom prst="roundRect">
            <a:avLst>
              <a:gd name="adj" fmla="val 14480"/>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RAM</a:t>
            </a:r>
            <a:endParaRPr lang="en-US" sz="1200" dirty="0"/>
          </a:p>
        </p:txBody>
      </p:sp>
      <p:sp>
        <p:nvSpPr>
          <p:cNvPr id="17" name="Text 15"/>
          <p:cNvSpPr txBox="1"/>
          <p:nvPr/>
        </p:nvSpPr>
        <p:spPr>
          <a:xfrm>
            <a:off x="6803136" y="3454146"/>
            <a:ext cx="932688" cy="505206"/>
          </a:xfrm>
          <a:prstGeom prst="roundRect">
            <a:avLst>
              <a:gd name="adj" fmla="val 14480"/>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Disk</a:t>
            </a:r>
            <a:endParaRPr lang="en-US" sz="1200" dirty="0"/>
          </a:p>
        </p:txBody>
      </p:sp>
      <p:sp>
        <p:nvSpPr>
          <p:cNvPr id="18" name="Text 16"/>
          <p:cNvSpPr txBox="1"/>
          <p:nvPr/>
        </p:nvSpPr>
        <p:spPr>
          <a:xfrm>
            <a:off x="7808976" y="3454146"/>
            <a:ext cx="932688" cy="505206"/>
          </a:xfrm>
          <a:prstGeom prst="roundRect">
            <a:avLst>
              <a:gd name="adj" fmla="val 14480"/>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NIC</a:t>
            </a:r>
            <a:endParaRPr lang="en-US" sz="1200" dirty="0"/>
          </a:p>
        </p:txBody>
      </p:sp>
      <p:sp>
        <p:nvSpPr>
          <p:cNvPr id="19" name="Text 17"/>
          <p:cNvSpPr txBox="1"/>
          <p:nvPr/>
        </p:nvSpPr>
        <p:spPr>
          <a:xfrm>
            <a:off x="6858000" y="2327148"/>
            <a:ext cx="1371600" cy="233172"/>
          </a:xfrm>
          <a:prstGeom prst="rect">
            <a:avLst/>
          </a:prstGeom>
          <a:noFill/>
        </p:spPr>
        <p:txBody>
          <a:bodyPr wrap="square" lIns="635" tIns="635" rIns="635" bIns="635" rtlCol="0" anchor="t"/>
          <a:lstStyle/>
          <a:p>
            <a:pPr marL="0" indent="0" algn="l">
              <a:buNone/>
            </a:pPr>
            <a:r>
              <a:rPr lang="en-US" sz="1000" i="1" dirty="0">
                <a:solidFill>
                  <a:srgbClr val="6B6B6B"/>
                </a:solidFill>
                <a:latin typeface="Calibri" panose="020F0502020204030204" pitchFamily="34" charset="0"/>
                <a:ea typeface="Calibri" panose="020F0502020204030204" pitchFamily="34" charset="-122"/>
                <a:cs typeface="Calibri" panose="020F0502020204030204" pitchFamily="34" charset="-120"/>
              </a:rPr>
              <a:t>System calls</a:t>
            </a:r>
            <a:endParaRPr lang="en-US" sz="1000" dirty="0"/>
          </a:p>
        </p:txBody>
      </p:sp>
      <p:sp>
        <p:nvSpPr>
          <p:cNvPr id="21" name="Shape 18"/>
          <p:cNvSpPr/>
          <p:nvPr/>
        </p:nvSpPr>
        <p:spPr>
          <a:xfrm>
            <a:off x="457200" y="4224528"/>
            <a:ext cx="8229600" cy="530352"/>
          </a:xfrm>
          <a:prstGeom prst="rect">
            <a:avLst/>
          </a:prstGeom>
          <a:solidFill>
            <a:srgbClr val="EAF0F7"/>
          </a:solidFill>
          <a:ln w="12700">
            <a:solidFill>
              <a:srgbClr val="EAF0F7"/>
            </a:solidFill>
            <a:prstDash val="solid"/>
          </a:ln>
        </p:spPr>
      </p:sp>
      <p:sp>
        <p:nvSpPr>
          <p:cNvPr id="22" name="Text 19"/>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Users submit work through applications; only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controls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CPU</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Memory</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disk and network, so no user can interfere with another user's resources.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OS Functions in Resource Management</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
        <p:nvSpPr>
          <p:cNvPr id="6" name="Text 4"/>
          <p:cNvSpPr txBox="1"/>
          <p:nvPr/>
        </p:nvSpPr>
        <p:spPr>
          <a:xfrm>
            <a:off x="457200" y="1044702"/>
            <a:ext cx="256032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Process Mgmt</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CPU scheduling (CFS)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fork · exec · signals</a:t>
            </a:r>
            <a:endParaRPr lang="en-US" sz="1200" dirty="0"/>
          </a:p>
        </p:txBody>
      </p:sp>
      <p:sp>
        <p:nvSpPr>
          <p:cNvPr id="7" name="Shape 5"/>
          <p:cNvSpPr/>
          <p:nvPr/>
        </p:nvSpPr>
        <p:spPr>
          <a:xfrm flipV="1">
            <a:off x="1737360" y="1821942"/>
            <a:ext cx="0" cy="310896"/>
          </a:xfrm>
          <a:prstGeom prst="line">
            <a:avLst/>
          </a:prstGeom>
          <a:noFill/>
          <a:ln w="22225">
            <a:solidFill>
              <a:srgbClr val="1F3A5F"/>
            </a:solidFill>
            <a:prstDash val="solid"/>
            <a:tailEnd type="triangle"/>
          </a:ln>
        </p:spPr>
      </p:sp>
      <p:sp>
        <p:nvSpPr>
          <p:cNvPr id="8" name="Text 6"/>
          <p:cNvSpPr txBox="1"/>
          <p:nvPr/>
        </p:nvSpPr>
        <p:spPr>
          <a:xfrm>
            <a:off x="3291840" y="1044702"/>
            <a:ext cx="256032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Memory Mgmt</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Virtual memory, paging</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mmap · swap</a:t>
            </a:r>
            <a:endParaRPr lang="en-US" sz="1200" dirty="0"/>
          </a:p>
        </p:txBody>
      </p:sp>
      <p:sp>
        <p:nvSpPr>
          <p:cNvPr id="9" name="Shape 7"/>
          <p:cNvSpPr/>
          <p:nvPr/>
        </p:nvSpPr>
        <p:spPr>
          <a:xfrm flipV="1">
            <a:off x="4572000" y="1821942"/>
            <a:ext cx="0" cy="310896"/>
          </a:xfrm>
          <a:prstGeom prst="line">
            <a:avLst/>
          </a:prstGeom>
          <a:noFill/>
          <a:ln w="22225">
            <a:solidFill>
              <a:srgbClr val="1F3A5F"/>
            </a:solidFill>
            <a:prstDash val="solid"/>
            <a:tailEnd type="triangle"/>
          </a:ln>
        </p:spPr>
      </p:sp>
      <p:sp>
        <p:nvSpPr>
          <p:cNvPr id="10" name="Text 8"/>
          <p:cNvSpPr txBox="1"/>
          <p:nvPr/>
        </p:nvSpPr>
        <p:spPr>
          <a:xfrm>
            <a:off x="6126480" y="1044702"/>
            <a:ext cx="256032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Mgmt</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VFS, inodes, ext4</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page cache</a:t>
            </a:r>
            <a:endParaRPr lang="en-US" sz="1200" dirty="0"/>
          </a:p>
        </p:txBody>
      </p:sp>
      <p:sp>
        <p:nvSpPr>
          <p:cNvPr id="11" name="Shape 9"/>
          <p:cNvSpPr/>
          <p:nvPr/>
        </p:nvSpPr>
        <p:spPr>
          <a:xfrm flipV="1">
            <a:off x="7406640" y="1821942"/>
            <a:ext cx="0" cy="310896"/>
          </a:xfrm>
          <a:prstGeom prst="line">
            <a:avLst/>
          </a:prstGeom>
          <a:noFill/>
          <a:ln w="22225">
            <a:solidFill>
              <a:srgbClr val="1F3A5F"/>
            </a:solidFill>
            <a:prstDash val="solid"/>
            <a:tailEnd type="triangle"/>
          </a:ln>
        </p:spPr>
      </p:sp>
      <p:sp>
        <p:nvSpPr>
          <p:cNvPr id="12" name="Text 10"/>
          <p:cNvSpPr txBox="1"/>
          <p:nvPr/>
        </p:nvSpPr>
        <p:spPr>
          <a:xfrm>
            <a:off x="457200" y="2132838"/>
            <a:ext cx="8229600" cy="466344"/>
          </a:xfrm>
          <a:prstGeom prst="roundRect">
            <a:avLst>
              <a:gd name="adj" fmla="val 15686"/>
            </a:avLst>
          </a:prstGeom>
          <a:solidFill>
            <a:srgbClr val="1F3A5F"/>
          </a:solidFill>
          <a:ln w="12700">
            <a:solidFill>
              <a:srgbClr val="1F3A5F"/>
            </a:solidFill>
          </a:ln>
        </p:spPr>
        <p:txBody>
          <a:bodyPr wrap="square" lIns="508" tIns="508" rIns="508" bIns="508"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Linux Kernel: Resource Manager</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(allocation · scheduling · protection)</a:t>
            </a:r>
            <a:endParaRPr lang="en-US" sz="1400" dirty="0"/>
          </a:p>
        </p:txBody>
      </p:sp>
      <p:sp>
        <p:nvSpPr>
          <p:cNvPr id="13" name="Text 11"/>
          <p:cNvSpPr txBox="1"/>
          <p:nvPr/>
        </p:nvSpPr>
        <p:spPr>
          <a:xfrm>
            <a:off x="457200" y="2910078"/>
            <a:ext cx="393192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Device Mgmt</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Drivers, interrupts, DMA</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access via /dev</a:t>
            </a:r>
            <a:endParaRPr lang="en-US" sz="1200" dirty="0"/>
          </a:p>
        </p:txBody>
      </p:sp>
      <p:sp>
        <p:nvSpPr>
          <p:cNvPr id="14" name="Shape 12"/>
          <p:cNvSpPr/>
          <p:nvPr/>
        </p:nvSpPr>
        <p:spPr>
          <a:xfrm>
            <a:off x="2423160" y="2599182"/>
            <a:ext cx="0" cy="310896"/>
          </a:xfrm>
          <a:prstGeom prst="line">
            <a:avLst/>
          </a:prstGeom>
          <a:noFill/>
          <a:ln w="22225">
            <a:solidFill>
              <a:srgbClr val="1F3A5F"/>
            </a:solidFill>
            <a:prstDash val="solid"/>
            <a:tailEnd type="triangle"/>
          </a:ln>
        </p:spPr>
      </p:sp>
      <p:sp>
        <p:nvSpPr>
          <p:cNvPr id="15" name="Text 13"/>
          <p:cNvSpPr txBox="1"/>
          <p:nvPr/>
        </p:nvSpPr>
        <p:spPr>
          <a:xfrm>
            <a:off x="4754880" y="2910078"/>
            <a:ext cx="393192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Security &amp; Protection</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UID/GID, permission bits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isolation between users</a:t>
            </a:r>
            <a:endParaRPr lang="en-US" sz="1200" dirty="0"/>
          </a:p>
        </p:txBody>
      </p:sp>
      <p:sp>
        <p:nvSpPr>
          <p:cNvPr id="16" name="Shape 14"/>
          <p:cNvSpPr/>
          <p:nvPr/>
        </p:nvSpPr>
        <p:spPr>
          <a:xfrm>
            <a:off x="6720840" y="2599182"/>
            <a:ext cx="0" cy="310896"/>
          </a:xfrm>
          <a:prstGeom prst="line">
            <a:avLst/>
          </a:prstGeom>
          <a:noFill/>
          <a:ln w="22225">
            <a:solidFill>
              <a:srgbClr val="1F3A5F"/>
            </a:solidFill>
            <a:prstDash val="solid"/>
            <a:tailEnd type="triangle"/>
          </a:ln>
        </p:spPr>
      </p:sp>
      <p:sp>
        <p:nvSpPr>
          <p:cNvPr id="17" name="Text 15"/>
          <p:cNvSpPr txBox="1"/>
          <p:nvPr/>
        </p:nvSpPr>
        <p:spPr>
          <a:xfrm>
            <a:off x="457200" y="3803904"/>
            <a:ext cx="8229600" cy="272034"/>
          </a:xfrm>
          <a:prstGeom prst="rect">
            <a:avLst/>
          </a:prstGeom>
          <a:noFill/>
        </p:spPr>
        <p:txBody>
          <a:bodyPr wrap="square" lIns="635" tIns="635" rIns="635" bIns="635" rtlCol="0" anchor="t"/>
          <a:lstStyle/>
          <a:p>
            <a:pPr marL="0" indent="0" algn="ctr">
              <a:buNone/>
            </a:pPr>
            <a:r>
              <a:rPr lang="en-US" sz="1300" b="1" dirty="0">
                <a:solidFill>
                  <a:srgbClr val="1F3A5F"/>
                </a:solidFill>
                <a:latin typeface="Calibri" panose="020F0502020204030204" pitchFamily="34" charset="0"/>
                <a:ea typeface="Calibri" panose="020F0502020204030204" pitchFamily="34" charset="-122"/>
                <a:cs typeface="Calibri" panose="020F0502020204030204" pitchFamily="34" charset="-120"/>
              </a:rPr>
              <a:t>Goals: fairness · efficiency · isolation · protection</a:t>
            </a:r>
            <a:endParaRPr lang="en-US" sz="1300" dirty="0"/>
          </a:p>
        </p:txBody>
      </p:sp>
      <p:sp>
        <p:nvSpPr>
          <p:cNvPr id="19" name="Shape 16"/>
          <p:cNvSpPr/>
          <p:nvPr/>
        </p:nvSpPr>
        <p:spPr>
          <a:xfrm>
            <a:off x="457200" y="4224528"/>
            <a:ext cx="8229600" cy="530352"/>
          </a:xfrm>
          <a:prstGeom prst="rect">
            <a:avLst/>
          </a:prstGeom>
          <a:solidFill>
            <a:srgbClr val="EAF0F7"/>
          </a:solidFill>
          <a:ln w="12700">
            <a:solidFill>
              <a:srgbClr val="EAF0F7"/>
            </a:solidFill>
            <a:prstDash val="solid"/>
          </a:ln>
        </p:spPr>
      </p:sp>
      <p:sp>
        <p:nvSpPr>
          <p:cNvPr id="20" name="Text 17"/>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Each function allocates and protects a shared resource: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schedules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CPU</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maps virtual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Memory</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mediates files and devices, and enforces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Permissions</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System Calls</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graphicFrame>
        <p:nvGraphicFramePr>
          <p:cNvPr id="6" name="Table 0"/>
          <p:cNvGraphicFramePr>
            <a:graphicFrameLocks noGrp="1"/>
          </p:cNvGraphicFramePr>
          <p:nvPr/>
        </p:nvGraphicFramePr>
        <p:xfrm>
          <a:off x="457200" y="1083564"/>
          <a:ext cx="4754880" cy="2798064"/>
        </p:xfrm>
        <a:graphic>
          <a:graphicData uri="http://schemas.openxmlformats.org/drawingml/2006/table">
            <a:tbl>
              <a:tblPr/>
              <a:tblGrid>
                <a:gridCol w="2011680"/>
                <a:gridCol w="2743200"/>
              </a:tblGrid>
              <a:tr h="349758">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System Call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Purpose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1F3A5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open(path, flags)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Returns a file descriptor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read(fd, buf, 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Copy data into buffer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write(fd, buf, 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Write buffer to file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close(fd)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Release the descriptor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lseek(fd, off, whence)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Move file offset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stat(path, &amp;st)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Read inode metadata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49758">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unlink(path)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Remove directory entry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69280" y="1083564"/>
            <a:ext cx="3017520" cy="404165"/>
          </a:xfrm>
          <a:prstGeom prst="roundRect">
            <a:avLst>
              <a:gd name="adj" fmla="val 18100"/>
            </a:avLst>
          </a:prstGeom>
          <a:solidFill>
            <a:srgbClr val="FFFFFF"/>
          </a:solidFill>
          <a:ln w="12700">
            <a:solidFill>
              <a:srgbClr val="1F3A5F"/>
            </a:solidFill>
          </a:ln>
        </p:spPr>
        <p:txBody>
          <a:bodyPr wrap="square" lIns="508" tIns="508" rIns="508" bIns="508" rtlCol="0" anchor="ctr"/>
          <a:lstStyle/>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Application</a:t>
            </a:r>
            <a:endParaRPr lang="en-US" sz="1100" dirty="0"/>
          </a:p>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open() / read() / write()</a:t>
            </a:r>
            <a:endParaRPr lang="en-US" sz="1100" dirty="0"/>
          </a:p>
        </p:txBody>
      </p:sp>
      <p:sp>
        <p:nvSpPr>
          <p:cNvPr id="8" name="Shape 5"/>
          <p:cNvSpPr/>
          <p:nvPr/>
        </p:nvSpPr>
        <p:spPr>
          <a:xfrm>
            <a:off x="7178040" y="1487729"/>
            <a:ext cx="0" cy="202082"/>
          </a:xfrm>
          <a:prstGeom prst="line">
            <a:avLst/>
          </a:prstGeom>
          <a:noFill/>
          <a:ln w="22225">
            <a:solidFill>
              <a:srgbClr val="1F3A5F"/>
            </a:solidFill>
            <a:prstDash val="solid"/>
            <a:tailEnd type="triangle"/>
          </a:ln>
        </p:spPr>
      </p:sp>
      <p:sp>
        <p:nvSpPr>
          <p:cNvPr id="9" name="Text 6"/>
          <p:cNvSpPr txBox="1"/>
          <p:nvPr/>
        </p:nvSpPr>
        <p:spPr>
          <a:xfrm>
            <a:off x="5669280" y="1689811"/>
            <a:ext cx="3017520" cy="404165"/>
          </a:xfrm>
          <a:prstGeom prst="roundRect">
            <a:avLst>
              <a:gd name="adj" fmla="val 18100"/>
            </a:avLst>
          </a:prstGeom>
          <a:solidFill>
            <a:srgbClr val="FFFFFF"/>
          </a:solidFill>
          <a:ln w="12700">
            <a:solidFill>
              <a:srgbClr val="1F3A5F"/>
            </a:solidFill>
          </a:ln>
        </p:spPr>
        <p:txBody>
          <a:bodyPr wrap="square" lIns="508" tIns="508" rIns="508" bIns="508" rtlCol="0" anchor="ctr"/>
          <a:lstStyle/>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System Call Interface</a:t>
            </a:r>
            <a:endParaRPr lang="en-US" sz="1100" dirty="0"/>
          </a:p>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trap into kernel</a:t>
            </a:r>
            <a:endParaRPr lang="en-US" sz="1100" dirty="0"/>
          </a:p>
        </p:txBody>
      </p:sp>
      <p:sp>
        <p:nvSpPr>
          <p:cNvPr id="10" name="Shape 7"/>
          <p:cNvSpPr/>
          <p:nvPr/>
        </p:nvSpPr>
        <p:spPr>
          <a:xfrm>
            <a:off x="7178040" y="2093976"/>
            <a:ext cx="0" cy="202082"/>
          </a:xfrm>
          <a:prstGeom prst="line">
            <a:avLst/>
          </a:prstGeom>
          <a:noFill/>
          <a:ln w="22225">
            <a:solidFill>
              <a:srgbClr val="1F3A5F"/>
            </a:solidFill>
            <a:prstDash val="solid"/>
            <a:tailEnd type="triangle"/>
          </a:ln>
        </p:spPr>
      </p:sp>
      <p:sp>
        <p:nvSpPr>
          <p:cNvPr id="11" name="Text 8"/>
          <p:cNvSpPr txBox="1"/>
          <p:nvPr/>
        </p:nvSpPr>
        <p:spPr>
          <a:xfrm>
            <a:off x="5669280" y="2296058"/>
            <a:ext cx="3017520" cy="404165"/>
          </a:xfrm>
          <a:prstGeom prst="roundRect">
            <a:avLst>
              <a:gd name="adj" fmla="val 18100"/>
            </a:avLst>
          </a:prstGeom>
          <a:solidFill>
            <a:srgbClr val="1F3A5F"/>
          </a:solidFill>
          <a:ln w="12700">
            <a:solidFill>
              <a:srgbClr val="1F3A5F"/>
            </a:solidFill>
          </a:ln>
        </p:spPr>
        <p:txBody>
          <a:bodyPr wrap="square" lIns="508" tIns="508" rIns="508" bIns="508"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Kernel</a:t>
            </a: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(VFS)</a:t>
            </a:r>
            <a:endParaRPr lang="en-US" sz="11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permission + fd lookup</a:t>
            </a:r>
            <a:endParaRPr lang="en-US" sz="1100" dirty="0"/>
          </a:p>
        </p:txBody>
      </p:sp>
      <p:sp>
        <p:nvSpPr>
          <p:cNvPr id="12" name="Shape 9"/>
          <p:cNvSpPr/>
          <p:nvPr/>
        </p:nvSpPr>
        <p:spPr>
          <a:xfrm>
            <a:off x="7178040" y="2700223"/>
            <a:ext cx="0" cy="202082"/>
          </a:xfrm>
          <a:prstGeom prst="line">
            <a:avLst/>
          </a:prstGeom>
          <a:noFill/>
          <a:ln w="22225">
            <a:solidFill>
              <a:srgbClr val="1F3A5F"/>
            </a:solidFill>
            <a:prstDash val="solid"/>
            <a:tailEnd type="triangle"/>
          </a:ln>
        </p:spPr>
      </p:sp>
      <p:sp>
        <p:nvSpPr>
          <p:cNvPr id="13" name="Text 10"/>
          <p:cNvSpPr txBox="1"/>
          <p:nvPr/>
        </p:nvSpPr>
        <p:spPr>
          <a:xfrm>
            <a:off x="5669280" y="2902306"/>
            <a:ext cx="3017520" cy="404165"/>
          </a:xfrm>
          <a:prstGeom prst="roundRect">
            <a:avLst>
              <a:gd name="adj" fmla="val 18100"/>
            </a:avLst>
          </a:prstGeom>
          <a:solidFill>
            <a:srgbClr val="FFFFFF"/>
          </a:solidFill>
          <a:ln w="12700">
            <a:solidFill>
              <a:srgbClr val="1F3A5F"/>
            </a:solidFill>
          </a:ln>
        </p:spPr>
        <p:txBody>
          <a:bodyPr wrap="square" lIns="508" tIns="508" rIns="508" bIns="508" rtlCol="0" anchor="ctr"/>
          <a:lstStyle/>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File System</a:t>
            </a:r>
            <a:endParaRPr lang="en-US" sz="1100" dirty="0"/>
          </a:p>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ext4 / xfs</a:t>
            </a:r>
            <a:endParaRPr lang="en-US" sz="1100" dirty="0"/>
          </a:p>
        </p:txBody>
      </p:sp>
      <p:sp>
        <p:nvSpPr>
          <p:cNvPr id="14" name="Shape 11"/>
          <p:cNvSpPr/>
          <p:nvPr/>
        </p:nvSpPr>
        <p:spPr>
          <a:xfrm>
            <a:off x="7178040" y="3306470"/>
            <a:ext cx="0" cy="202082"/>
          </a:xfrm>
          <a:prstGeom prst="line">
            <a:avLst/>
          </a:prstGeom>
          <a:noFill/>
          <a:ln w="22225">
            <a:solidFill>
              <a:srgbClr val="1F3A5F"/>
            </a:solidFill>
            <a:prstDash val="solid"/>
            <a:tailEnd type="triangle"/>
          </a:ln>
        </p:spPr>
      </p:sp>
      <p:sp>
        <p:nvSpPr>
          <p:cNvPr id="15" name="Text 12"/>
          <p:cNvSpPr txBox="1"/>
          <p:nvPr/>
        </p:nvSpPr>
        <p:spPr>
          <a:xfrm>
            <a:off x="5669280" y="3508553"/>
            <a:ext cx="3017520" cy="404165"/>
          </a:xfrm>
          <a:prstGeom prst="roundRect">
            <a:avLst>
              <a:gd name="adj" fmla="val 18100"/>
            </a:avLst>
          </a:prstGeom>
          <a:solidFill>
            <a:srgbClr val="EAF0F7"/>
          </a:solidFill>
          <a:ln w="12700">
            <a:solidFill>
              <a:srgbClr val="1F3A5F"/>
            </a:solidFill>
          </a:ln>
        </p:spPr>
        <p:txBody>
          <a:bodyPr wrap="square" lIns="508" tIns="508" rIns="508" bIns="508" rtlCol="0" anchor="ctr"/>
          <a:lstStyle/>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Storage</a:t>
            </a:r>
            <a:endParaRPr lang="en-US" sz="1100" dirty="0"/>
          </a:p>
          <a:p>
            <a:pPr marL="0" indent="0" algn="ctr">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HDD / SSD</a:t>
            </a:r>
            <a:endParaRPr lang="en-US" sz="1100" dirty="0"/>
          </a:p>
        </p:txBody>
      </p:sp>
      <p:sp>
        <p:nvSpPr>
          <p:cNvPr id="17" name="Shape 13"/>
          <p:cNvSpPr/>
          <p:nvPr/>
        </p:nvSpPr>
        <p:spPr>
          <a:xfrm>
            <a:off x="457200" y="4224528"/>
            <a:ext cx="8229600" cy="530352"/>
          </a:xfrm>
          <a:prstGeom prst="rect">
            <a:avLst/>
          </a:prstGeom>
          <a:solidFill>
            <a:srgbClr val="EAF0F7"/>
          </a:solidFill>
          <a:ln w="12700">
            <a:solidFill>
              <a:srgbClr val="EAF0F7"/>
            </a:solidFill>
            <a:prstDash val="solid"/>
          </a:ln>
        </p:spPr>
      </p:sp>
      <p:sp>
        <p:nvSpPr>
          <p:cNvPr id="18" name="Text 14"/>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An application never reads the disk itself; each call crosses into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and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System</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translates file names and offsets into disk blocks.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Device System Calls</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
        <p:nvSpPr>
          <p:cNvPr id="6" name="Text 4"/>
          <p:cNvSpPr txBox="1"/>
          <p:nvPr/>
        </p:nvSpPr>
        <p:spPr>
          <a:xfrm>
            <a:off x="457200" y="1083564"/>
            <a:ext cx="1828800" cy="738378"/>
          </a:xfrm>
          <a:prstGeom prst="roundRect">
            <a:avLst>
              <a:gd name="adj" fmla="val 9907"/>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 Process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read(fd, buf, n)</a:t>
            </a:r>
            <a:endParaRPr lang="en-US" sz="1200" dirty="0"/>
          </a:p>
        </p:txBody>
      </p:sp>
      <p:sp>
        <p:nvSpPr>
          <p:cNvPr id="7" name="Shape 5"/>
          <p:cNvSpPr/>
          <p:nvPr/>
        </p:nvSpPr>
        <p:spPr>
          <a:xfrm>
            <a:off x="2286000" y="1452753"/>
            <a:ext cx="457200" cy="0"/>
          </a:xfrm>
          <a:prstGeom prst="line">
            <a:avLst/>
          </a:prstGeom>
          <a:noFill/>
          <a:ln w="22225">
            <a:solidFill>
              <a:srgbClr val="1F3A5F"/>
            </a:solidFill>
            <a:prstDash val="solid"/>
            <a:tailEnd type="triangle"/>
          </a:ln>
        </p:spPr>
      </p:sp>
      <p:sp>
        <p:nvSpPr>
          <p:cNvPr id="8" name="Text 6"/>
          <p:cNvSpPr txBox="1"/>
          <p:nvPr/>
        </p:nvSpPr>
        <p:spPr>
          <a:xfrm>
            <a:off x="2743200" y="1083564"/>
            <a:ext cx="1828800" cy="738378"/>
          </a:xfrm>
          <a:prstGeom prst="roundRect">
            <a:avLst>
              <a:gd name="adj" fmla="val 9907"/>
            </a:avLst>
          </a:prstGeom>
          <a:solidFill>
            <a:srgbClr val="1F3A5F"/>
          </a:solidFill>
          <a:ln w="12700">
            <a:solidFill>
              <a:srgbClr val="1F3A5F"/>
            </a:solidFill>
          </a:ln>
        </p:spPr>
        <p:txBody>
          <a:bodyPr wrap="square" lIns="508" tIns="508" rIns="508" bIns="508"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Kernel</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VFS + syscall layer</a:t>
            </a:r>
            <a:endParaRPr lang="en-US" sz="1200" dirty="0"/>
          </a:p>
        </p:txBody>
      </p:sp>
      <p:sp>
        <p:nvSpPr>
          <p:cNvPr id="9" name="Shape 7"/>
          <p:cNvSpPr/>
          <p:nvPr/>
        </p:nvSpPr>
        <p:spPr>
          <a:xfrm>
            <a:off x="4572000" y="1452753"/>
            <a:ext cx="457200" cy="0"/>
          </a:xfrm>
          <a:prstGeom prst="line">
            <a:avLst/>
          </a:prstGeom>
          <a:noFill/>
          <a:ln w="22225">
            <a:solidFill>
              <a:srgbClr val="1F3A5F"/>
            </a:solidFill>
            <a:prstDash val="solid"/>
            <a:tailEnd type="triangle"/>
          </a:ln>
        </p:spPr>
      </p:sp>
      <p:sp>
        <p:nvSpPr>
          <p:cNvPr id="10" name="Text 8"/>
          <p:cNvSpPr txBox="1"/>
          <p:nvPr/>
        </p:nvSpPr>
        <p:spPr>
          <a:xfrm>
            <a:off x="5029200" y="1083564"/>
            <a:ext cx="1828800" cy="738378"/>
          </a:xfrm>
          <a:prstGeom prst="roundRect">
            <a:avLst>
              <a:gd name="adj" fmla="val 9907"/>
            </a:avLst>
          </a:prstGeom>
          <a:solidFill>
            <a:srgbClr val="1F3A5F"/>
          </a:solidFill>
          <a:ln w="12700">
            <a:solidFill>
              <a:srgbClr val="1F3A5F"/>
            </a:solidFill>
          </a:ln>
        </p:spPr>
        <p:txBody>
          <a:bodyPr wrap="square" lIns="508" tIns="508" rIns="508" bIns="508"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Device Driver</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char / block driver</a:t>
            </a:r>
            <a:endParaRPr lang="en-US" sz="1200" dirty="0"/>
          </a:p>
        </p:txBody>
      </p:sp>
      <p:sp>
        <p:nvSpPr>
          <p:cNvPr id="11" name="Shape 9"/>
          <p:cNvSpPr/>
          <p:nvPr/>
        </p:nvSpPr>
        <p:spPr>
          <a:xfrm>
            <a:off x="6858000" y="1452753"/>
            <a:ext cx="457200" cy="0"/>
          </a:xfrm>
          <a:prstGeom prst="line">
            <a:avLst/>
          </a:prstGeom>
          <a:noFill/>
          <a:ln w="22225">
            <a:solidFill>
              <a:srgbClr val="1F3A5F"/>
            </a:solidFill>
            <a:prstDash val="solid"/>
            <a:tailEnd type="triangle"/>
          </a:ln>
        </p:spPr>
      </p:sp>
      <p:sp>
        <p:nvSpPr>
          <p:cNvPr id="12" name="Text 10"/>
          <p:cNvSpPr txBox="1"/>
          <p:nvPr/>
        </p:nvSpPr>
        <p:spPr>
          <a:xfrm>
            <a:off x="7315200" y="1083564"/>
            <a:ext cx="1828800" cy="738378"/>
          </a:xfrm>
          <a:prstGeom prst="roundRect">
            <a:avLst>
              <a:gd name="adj" fmla="val 9907"/>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Hardware</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disk · NIC · terminal</a:t>
            </a:r>
            <a:endParaRPr lang="en-US" sz="1200" dirty="0"/>
          </a:p>
        </p:txBody>
      </p:sp>
      <p:sp>
        <p:nvSpPr>
          <p:cNvPr id="13" name="Text 11"/>
          <p:cNvSpPr txBox="1"/>
          <p:nvPr/>
        </p:nvSpPr>
        <p:spPr>
          <a:xfrm>
            <a:off x="457200" y="2093976"/>
            <a:ext cx="4023360" cy="2020824"/>
          </a:xfrm>
          <a:prstGeom prst="rect">
            <a:avLst/>
          </a:prstGeom>
          <a:noFill/>
        </p:spPr>
        <p:txBody>
          <a:bodyPr wrap="square" lIns="635" tIns="635" rIns="635" bIns="635" rtlCol="0" anchor="t"/>
          <a:lstStyle/>
          <a:p>
            <a:pPr marL="0" indent="0" algn="l">
              <a:spcAft>
                <a:spcPts val="600"/>
              </a:spcAft>
              <a:buSzPct val="100000"/>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Device files</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live in /dev (/dev/sda, /dev/tty)</a:t>
            </a:r>
            <a:endParaRPr lang="en-US" sz="1200" dirty="0"/>
          </a:p>
          <a:p>
            <a:pPr marL="0" indent="0" algn="l">
              <a:spcAft>
                <a:spcPts val="600"/>
              </a:spcAft>
              <a:buSzPct val="100000"/>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Character</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devices: byte streams</a:t>
            </a:r>
            <a:endParaRPr lang="en-US" sz="1200" dirty="0"/>
          </a:p>
          <a:p>
            <a:pPr marL="0" indent="0" algn="l">
              <a:spcAft>
                <a:spcPts val="600"/>
              </a:spcAft>
              <a:buSzPct val="100000"/>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Block</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devices: fixed-size blocks</a:t>
            </a:r>
            <a:endParaRPr lang="en-US" sz="1200" dirty="0"/>
          </a:p>
          <a:p>
            <a:pPr marL="0" indent="0" algn="l">
              <a:spcAft>
                <a:spcPts val="600"/>
              </a:spcAft>
              <a:buSzPct val="10000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Identified by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major / minor</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numbers</a:t>
            </a:r>
            <a:endParaRPr lang="en-US" sz="1200" dirty="0"/>
          </a:p>
          <a:p>
            <a:pPr marL="0" indent="0" algn="l">
              <a:spcAft>
                <a:spcPts val="600"/>
              </a:spcAft>
              <a:buSzPct val="100000"/>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Device Driver</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hides hardware details</a:t>
            </a:r>
            <a:endParaRPr lang="en-US" sz="1200" dirty="0"/>
          </a:p>
        </p:txBody>
      </p:sp>
      <p:graphicFrame>
        <p:nvGraphicFramePr>
          <p:cNvPr id="14" name="Table 0"/>
          <p:cNvGraphicFramePr>
            <a:graphicFrameLocks noGrp="1"/>
          </p:cNvGraphicFramePr>
          <p:nvPr/>
        </p:nvGraphicFramePr>
        <p:xfrm>
          <a:off x="4754880" y="2132838"/>
          <a:ext cx="3931920" cy="1943100"/>
        </p:xfrm>
        <a:graphic>
          <a:graphicData uri="http://schemas.openxmlformats.org/drawingml/2006/table">
            <a:tbl>
              <a:tblPr/>
              <a:tblGrid>
                <a:gridCol w="1371600"/>
                <a:gridCol w="2560320"/>
              </a:tblGrid>
              <a:tr h="38862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Call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Role on a device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1F3A5F"/>
                    </a:solidFill>
                  </a:tcPr>
                </a:tc>
              </a:tr>
              <a:tr h="388620">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open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Get fd for /dev node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88620">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read / write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Transfer data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88620">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ioctl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Device-specific control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r h="388620">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close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Release the device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BFB8A8"/>
                      </a:solidFill>
                      <a:prstDash val="solid"/>
                      <a:round/>
                      <a:headEnd type="none" w="med" len="med"/>
                      <a:tailEnd type="none" w="med" len="med"/>
                    </a:lnL>
                    <a:lnR w="9525" cap="flat" cmpd="sng" algn="ctr">
                      <a:solidFill>
                        <a:srgbClr val="BFB8A8"/>
                      </a:solidFill>
                      <a:prstDash val="solid"/>
                      <a:round/>
                      <a:headEnd type="none" w="med" len="med"/>
                      <a:tailEnd type="none" w="med" len="med"/>
                    </a:lnR>
                    <a:lnT w="9525" cap="flat" cmpd="sng" algn="ctr">
                      <a:solidFill>
                        <a:srgbClr val="BFB8A8"/>
                      </a:solidFill>
                      <a:prstDash val="solid"/>
                      <a:round/>
                      <a:headEnd type="none" w="med" len="med"/>
                      <a:tailEnd type="none" w="med" len="med"/>
                    </a:lnT>
                    <a:lnB w="9525" cap="flat" cmpd="sng" algn="ctr">
                      <a:solidFill>
                        <a:srgbClr val="BFB8A8"/>
                      </a:solidFill>
                      <a:prstDash val="solid"/>
                      <a:round/>
                      <a:headEnd type="none" w="med" len="med"/>
                      <a:tailEnd type="none" w="med" len="med"/>
                    </a:lnB>
                    <a:solidFill>
                      <a:srgbClr val="FFFFFF"/>
                    </a:solidFill>
                  </a:tcPr>
                </a:tc>
              </a:tr>
            </a:tbl>
          </a:graphicData>
        </a:graphic>
      </p:graphicFrame>
      <p:sp>
        <p:nvSpPr>
          <p:cNvPr id="16" name="Shape 12"/>
          <p:cNvSpPr/>
          <p:nvPr/>
        </p:nvSpPr>
        <p:spPr>
          <a:xfrm>
            <a:off x="457200" y="4224528"/>
            <a:ext cx="8229600" cy="530352"/>
          </a:xfrm>
          <a:prstGeom prst="rect">
            <a:avLst/>
          </a:prstGeom>
          <a:solidFill>
            <a:srgbClr val="EAF0F7"/>
          </a:solidFill>
          <a:ln w="12700">
            <a:solidFill>
              <a:srgbClr val="EAF0F7"/>
            </a:solidFill>
            <a:prstDash val="solid"/>
          </a:ln>
        </p:spPr>
      </p:sp>
      <p:sp>
        <p:nvSpPr>
          <p:cNvPr id="17" name="Text 13"/>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 device is used like a file: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forwards the request to 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Device Driver</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which converts it into hardware commands;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ioctl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handles special controls.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 Processes and Kernel Interaction</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
        <p:nvSpPr>
          <p:cNvPr id="6" name="Text 4"/>
          <p:cNvSpPr txBox="1"/>
          <p:nvPr/>
        </p:nvSpPr>
        <p:spPr>
          <a:xfrm>
            <a:off x="457200" y="1044702"/>
            <a:ext cx="1463040" cy="777240"/>
          </a:xfrm>
          <a:prstGeom prst="roundRect">
            <a:avLst>
              <a:gd name="adj" fmla="val 9412"/>
            </a:avLst>
          </a:prstGeom>
          <a:solidFill>
            <a:srgbClr val="EAF0F7"/>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1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 Mode</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app calls open()</a:t>
            </a:r>
            <a:endParaRPr lang="en-US" sz="1200" dirty="0"/>
          </a:p>
        </p:txBody>
      </p:sp>
      <p:sp>
        <p:nvSpPr>
          <p:cNvPr id="7" name="Shape 5"/>
          <p:cNvSpPr/>
          <p:nvPr/>
        </p:nvSpPr>
        <p:spPr>
          <a:xfrm>
            <a:off x="1920240" y="1433322"/>
            <a:ext cx="228600" cy="0"/>
          </a:xfrm>
          <a:prstGeom prst="line">
            <a:avLst/>
          </a:prstGeom>
          <a:noFill/>
          <a:ln w="22225">
            <a:solidFill>
              <a:srgbClr val="1F3A5F"/>
            </a:solidFill>
            <a:prstDash val="solid"/>
            <a:tailEnd type="triangle"/>
          </a:ln>
        </p:spPr>
      </p:sp>
      <p:sp>
        <p:nvSpPr>
          <p:cNvPr id="8" name="Text 6"/>
          <p:cNvSpPr txBox="1"/>
          <p:nvPr/>
        </p:nvSpPr>
        <p:spPr>
          <a:xfrm>
            <a:off x="2148840" y="1044702"/>
            <a:ext cx="14630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2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System Call</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libc wrapper, trap</a:t>
            </a:r>
            <a:endParaRPr lang="en-US" sz="1200" dirty="0"/>
          </a:p>
        </p:txBody>
      </p:sp>
      <p:sp>
        <p:nvSpPr>
          <p:cNvPr id="9" name="Shape 7"/>
          <p:cNvSpPr/>
          <p:nvPr/>
        </p:nvSpPr>
        <p:spPr>
          <a:xfrm>
            <a:off x="3611880" y="1433322"/>
            <a:ext cx="228600" cy="0"/>
          </a:xfrm>
          <a:prstGeom prst="line">
            <a:avLst/>
          </a:prstGeom>
          <a:noFill/>
          <a:ln w="22225">
            <a:solidFill>
              <a:srgbClr val="1F3A5F"/>
            </a:solidFill>
            <a:prstDash val="solid"/>
            <a:tailEnd type="triangle"/>
          </a:ln>
        </p:spPr>
      </p:sp>
      <p:sp>
        <p:nvSpPr>
          <p:cNvPr id="10" name="Text 8"/>
          <p:cNvSpPr txBox="1"/>
          <p:nvPr/>
        </p:nvSpPr>
        <p:spPr>
          <a:xfrm>
            <a:off x="3840480" y="1044702"/>
            <a:ext cx="1463040" cy="777240"/>
          </a:xfrm>
          <a:prstGeom prst="roundRect">
            <a:avLst>
              <a:gd name="adj" fmla="val 9412"/>
            </a:avLst>
          </a:prstGeom>
          <a:solidFill>
            <a:srgbClr val="1F3A5F"/>
          </a:solidFill>
          <a:ln w="12700">
            <a:solidFill>
              <a:srgbClr val="1F3A5F"/>
            </a:solidFill>
          </a:ln>
        </p:spPr>
        <p:txBody>
          <a:bodyPr wrap="square" lIns="508" tIns="508" rIns="508" bIns="508" rtlCol="0" anchor="ctr"/>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3  </a:t>
            </a: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Kernel Mode</a:t>
            </a:r>
            <a:endParaRPr lang="en-US" sz="12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validate + serve</a:t>
            </a:r>
            <a:endParaRPr lang="en-US" sz="1200" dirty="0"/>
          </a:p>
        </p:txBody>
      </p:sp>
      <p:sp>
        <p:nvSpPr>
          <p:cNvPr id="11" name="Shape 9"/>
          <p:cNvSpPr/>
          <p:nvPr/>
        </p:nvSpPr>
        <p:spPr>
          <a:xfrm>
            <a:off x="5303520" y="1433322"/>
            <a:ext cx="228600" cy="0"/>
          </a:xfrm>
          <a:prstGeom prst="line">
            <a:avLst/>
          </a:prstGeom>
          <a:noFill/>
          <a:ln w="22225">
            <a:solidFill>
              <a:srgbClr val="1F3A5F"/>
            </a:solidFill>
            <a:prstDash val="solid"/>
            <a:tailEnd type="triangle"/>
          </a:ln>
        </p:spPr>
      </p:sp>
      <p:sp>
        <p:nvSpPr>
          <p:cNvPr id="12" name="Text 10"/>
          <p:cNvSpPr txBox="1"/>
          <p:nvPr/>
        </p:nvSpPr>
        <p:spPr>
          <a:xfrm>
            <a:off x="5532120" y="1044702"/>
            <a:ext cx="14630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4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Hardware</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disk / device / RAM</a:t>
            </a:r>
            <a:endParaRPr lang="en-US" sz="1200" dirty="0"/>
          </a:p>
        </p:txBody>
      </p:sp>
      <p:sp>
        <p:nvSpPr>
          <p:cNvPr id="13" name="Shape 11"/>
          <p:cNvSpPr/>
          <p:nvPr/>
        </p:nvSpPr>
        <p:spPr>
          <a:xfrm>
            <a:off x="6995160" y="1433322"/>
            <a:ext cx="228600" cy="0"/>
          </a:xfrm>
          <a:prstGeom prst="line">
            <a:avLst/>
          </a:prstGeom>
          <a:noFill/>
          <a:ln w="22225">
            <a:solidFill>
              <a:srgbClr val="1F3A5F"/>
            </a:solidFill>
            <a:prstDash val="solid"/>
            <a:tailEnd type="triangle"/>
          </a:ln>
        </p:spPr>
      </p:sp>
      <p:sp>
        <p:nvSpPr>
          <p:cNvPr id="14" name="Text 12"/>
          <p:cNvSpPr txBox="1"/>
          <p:nvPr/>
        </p:nvSpPr>
        <p:spPr>
          <a:xfrm>
            <a:off x="7223760" y="1044702"/>
            <a:ext cx="14630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5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Return</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result or errno</a:t>
            </a:r>
            <a:endParaRPr lang="en-US" sz="1200" dirty="0"/>
          </a:p>
        </p:txBody>
      </p:sp>
      <p:sp>
        <p:nvSpPr>
          <p:cNvPr id="15" name="Shape 13"/>
          <p:cNvSpPr/>
          <p:nvPr/>
        </p:nvSpPr>
        <p:spPr>
          <a:xfrm>
            <a:off x="7498080" y="1821942"/>
            <a:ext cx="0" cy="233172"/>
          </a:xfrm>
          <a:prstGeom prst="line">
            <a:avLst/>
          </a:prstGeom>
          <a:noFill/>
          <a:ln w="22225">
            <a:solidFill>
              <a:srgbClr val="1F3A5F"/>
            </a:solidFill>
            <a:prstDash val="solid"/>
          </a:ln>
        </p:spPr>
      </p:sp>
      <p:sp>
        <p:nvSpPr>
          <p:cNvPr id="16" name="Shape 14"/>
          <p:cNvSpPr/>
          <p:nvPr/>
        </p:nvSpPr>
        <p:spPr>
          <a:xfrm flipH="1">
            <a:off x="1188720" y="2055114"/>
            <a:ext cx="6309360" cy="0"/>
          </a:xfrm>
          <a:prstGeom prst="line">
            <a:avLst/>
          </a:prstGeom>
          <a:noFill/>
          <a:ln w="22225">
            <a:solidFill>
              <a:srgbClr val="1F3A5F"/>
            </a:solidFill>
            <a:prstDash val="solid"/>
          </a:ln>
        </p:spPr>
      </p:sp>
      <p:sp>
        <p:nvSpPr>
          <p:cNvPr id="17" name="Shape 15"/>
          <p:cNvSpPr/>
          <p:nvPr/>
        </p:nvSpPr>
        <p:spPr>
          <a:xfrm flipV="1">
            <a:off x="1188720" y="1821942"/>
            <a:ext cx="0" cy="233172"/>
          </a:xfrm>
          <a:prstGeom prst="line">
            <a:avLst/>
          </a:prstGeom>
          <a:noFill/>
          <a:ln w="22225">
            <a:solidFill>
              <a:srgbClr val="1F3A5F"/>
            </a:solidFill>
            <a:prstDash val="solid"/>
            <a:tailEnd type="triangle"/>
          </a:ln>
        </p:spPr>
      </p:sp>
      <p:sp>
        <p:nvSpPr>
          <p:cNvPr id="18" name="Text 16"/>
          <p:cNvSpPr txBox="1"/>
          <p:nvPr/>
        </p:nvSpPr>
        <p:spPr>
          <a:xfrm>
            <a:off x="1188720" y="2093976"/>
            <a:ext cx="6309360" cy="233172"/>
          </a:xfrm>
          <a:prstGeom prst="rect">
            <a:avLst/>
          </a:prstGeom>
          <a:noFill/>
        </p:spPr>
        <p:txBody>
          <a:bodyPr wrap="square" lIns="635" tIns="635" rIns="635" bIns="635" rtlCol="0" anchor="t"/>
          <a:lstStyle/>
          <a:p>
            <a:pPr marL="0" indent="0" algn="ctr">
              <a:buNone/>
            </a:pPr>
            <a:r>
              <a:rPr lang="en-US" sz="1100" i="1" dirty="0">
                <a:solidFill>
                  <a:srgbClr val="1F3A5F"/>
                </a:solidFill>
                <a:latin typeface="Calibri" panose="020F0502020204030204" pitchFamily="34" charset="0"/>
                <a:ea typeface="Calibri" panose="020F0502020204030204" pitchFamily="34" charset="-122"/>
                <a:cs typeface="Calibri" panose="020F0502020204030204" pitchFamily="34" charset="-120"/>
              </a:rPr>
              <a:t>Return value / errno, CPU switches back to User Mode</a:t>
            </a:r>
            <a:endParaRPr lang="en-US" sz="1100" dirty="0"/>
          </a:p>
        </p:txBody>
      </p:sp>
      <p:sp>
        <p:nvSpPr>
          <p:cNvPr id="19" name="Shape 17"/>
          <p:cNvSpPr/>
          <p:nvPr/>
        </p:nvSpPr>
        <p:spPr>
          <a:xfrm>
            <a:off x="457200" y="2482596"/>
            <a:ext cx="3931920" cy="1632204"/>
          </a:xfrm>
          <a:prstGeom prst="rect">
            <a:avLst/>
          </a:prstGeom>
          <a:solidFill>
            <a:srgbClr val="FFFFFF"/>
          </a:solidFill>
          <a:ln w="9525">
            <a:solidFill>
              <a:srgbClr val="BFB8A8"/>
            </a:solidFill>
            <a:prstDash val="solid"/>
          </a:ln>
        </p:spPr>
      </p:sp>
      <p:sp>
        <p:nvSpPr>
          <p:cNvPr id="20" name="Text 18"/>
          <p:cNvSpPr txBox="1"/>
          <p:nvPr/>
        </p:nvSpPr>
        <p:spPr>
          <a:xfrm>
            <a:off x="594360" y="2537003"/>
            <a:ext cx="3657600" cy="310896"/>
          </a:xfrm>
          <a:prstGeom prst="rect">
            <a:avLst/>
          </a:prstGeom>
          <a:noFill/>
        </p:spPr>
        <p:txBody>
          <a:bodyPr wrap="square" lIns="635" tIns="635" rIns="635" bIns="635" rtlCol="0" anchor="t"/>
          <a:lstStyle/>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 Mode</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(Ring 3)</a:t>
            </a:r>
            <a:endParaRPr lang="en-US" sz="1500" dirty="0"/>
          </a:p>
        </p:txBody>
      </p:sp>
      <p:sp>
        <p:nvSpPr>
          <p:cNvPr id="21" name="Text 19"/>
          <p:cNvSpPr txBox="1"/>
          <p:nvPr/>
        </p:nvSpPr>
        <p:spPr>
          <a:xfrm>
            <a:off x="594360" y="2871216"/>
            <a:ext cx="3657600" cy="1165860"/>
          </a:xfrm>
          <a:prstGeom prst="rect">
            <a:avLst/>
          </a:prstGeom>
          <a:noFill/>
        </p:spPr>
        <p:txBody>
          <a:bodyPr wrap="square" lIns="635" tIns="635" rIns="635" bIns="635" rtlCol="0" anchor="t"/>
          <a:lstStyle/>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Restricted instructions</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Own virtual address space</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No direct hardware access</a:t>
            </a:r>
            <a:endParaRPr lang="en-US" sz="1300" dirty="0"/>
          </a:p>
        </p:txBody>
      </p:sp>
      <p:sp>
        <p:nvSpPr>
          <p:cNvPr id="22" name="Shape 20"/>
          <p:cNvSpPr/>
          <p:nvPr/>
        </p:nvSpPr>
        <p:spPr>
          <a:xfrm>
            <a:off x="4754880" y="2482596"/>
            <a:ext cx="3931920" cy="1632204"/>
          </a:xfrm>
          <a:prstGeom prst="rect">
            <a:avLst/>
          </a:prstGeom>
          <a:solidFill>
            <a:srgbClr val="FFFFFF"/>
          </a:solidFill>
          <a:ln w="9525">
            <a:solidFill>
              <a:srgbClr val="BFB8A8"/>
            </a:solidFill>
            <a:prstDash val="solid"/>
          </a:ln>
        </p:spPr>
      </p:sp>
      <p:sp>
        <p:nvSpPr>
          <p:cNvPr id="23" name="Text 21"/>
          <p:cNvSpPr txBox="1"/>
          <p:nvPr/>
        </p:nvSpPr>
        <p:spPr>
          <a:xfrm>
            <a:off x="4892040" y="2537003"/>
            <a:ext cx="3657600" cy="310896"/>
          </a:xfrm>
          <a:prstGeom prst="rect">
            <a:avLst/>
          </a:prstGeom>
          <a:noFill/>
        </p:spPr>
        <p:txBody>
          <a:bodyPr wrap="square" lIns="635" tIns="635" rIns="635" bIns="635" rtlCol="0" anchor="t"/>
          <a:lstStyle/>
          <a:p>
            <a:pPr marL="0" indent="0" algn="l">
              <a:buNone/>
            </a:pPr>
            <a:r>
              <a:rPr lang="en-US" sz="15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 Mode</a:t>
            </a:r>
            <a:r>
              <a:rPr lang="en-US" sz="1500" dirty="0">
                <a:solidFill>
                  <a:srgbClr val="222222"/>
                </a:solidFill>
                <a:latin typeface="Calibri" panose="020F0502020204030204" pitchFamily="34" charset="0"/>
                <a:ea typeface="Calibri" panose="020F0502020204030204" pitchFamily="34" charset="-122"/>
                <a:cs typeface="Calibri" panose="020F0502020204030204" pitchFamily="34" charset="-120"/>
              </a:rPr>
              <a:t> (Ring 0)</a:t>
            </a:r>
            <a:endParaRPr lang="en-US" sz="1500" dirty="0"/>
          </a:p>
        </p:txBody>
      </p:sp>
      <p:sp>
        <p:nvSpPr>
          <p:cNvPr id="24" name="Text 22"/>
          <p:cNvSpPr txBox="1"/>
          <p:nvPr/>
        </p:nvSpPr>
        <p:spPr>
          <a:xfrm>
            <a:off x="4892040" y="2871216"/>
            <a:ext cx="3657600" cy="1165860"/>
          </a:xfrm>
          <a:prstGeom prst="rect">
            <a:avLst/>
          </a:prstGeom>
          <a:noFill/>
        </p:spPr>
        <p:txBody>
          <a:bodyPr wrap="square" lIns="635" tIns="635" rIns="635" bIns="635" rtlCol="0" anchor="t"/>
          <a:lstStyle/>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Full privileged access</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Controls memory and devices</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Entered by syscall, interrupt, exception</a:t>
            </a:r>
            <a:endParaRPr lang="en-US" sz="1300" dirty="0"/>
          </a:p>
        </p:txBody>
      </p:sp>
      <p:sp>
        <p:nvSpPr>
          <p:cNvPr id="26" name="Shape 23"/>
          <p:cNvSpPr/>
          <p:nvPr/>
        </p:nvSpPr>
        <p:spPr>
          <a:xfrm>
            <a:off x="457200" y="4224528"/>
            <a:ext cx="8229600" cy="530352"/>
          </a:xfrm>
          <a:prstGeom prst="rect">
            <a:avLst/>
          </a:prstGeom>
          <a:solidFill>
            <a:srgbClr val="EAF0F7"/>
          </a:solidFill>
          <a:ln w="12700">
            <a:solidFill>
              <a:srgbClr val="EAF0F7"/>
            </a:solidFill>
            <a:prstDash val="solid"/>
          </a:ln>
        </p:spPr>
      </p:sp>
      <p:sp>
        <p:nvSpPr>
          <p:cNvPr id="27" name="Text 24"/>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A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System Call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is the controlled gateway from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 Mode</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to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 Mode</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the kernel validates the request, performs it, and returns control to the process.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Sharing in a Multi-User Linux Server</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
        <p:nvSpPr>
          <p:cNvPr id="6" name="Text 4"/>
          <p:cNvSpPr txBox="1"/>
          <p:nvPr/>
        </p:nvSpPr>
        <p:spPr>
          <a:xfrm>
            <a:off x="457200" y="1161288"/>
            <a:ext cx="1737360" cy="582930"/>
          </a:xfrm>
          <a:prstGeom prst="roundRect">
            <a:avLst>
              <a:gd name="adj" fmla="val 12549"/>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alice</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(UID 1001)</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process P1</a:t>
            </a:r>
            <a:endParaRPr lang="en-US" sz="1200" dirty="0"/>
          </a:p>
        </p:txBody>
      </p:sp>
      <p:sp>
        <p:nvSpPr>
          <p:cNvPr id="7" name="Text 5"/>
          <p:cNvSpPr txBox="1"/>
          <p:nvPr/>
        </p:nvSpPr>
        <p:spPr>
          <a:xfrm>
            <a:off x="457200" y="2249424"/>
            <a:ext cx="1737360" cy="582930"/>
          </a:xfrm>
          <a:prstGeom prst="roundRect">
            <a:avLst>
              <a:gd name="adj" fmla="val 12549"/>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bob</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(UID 1002)</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process P2</a:t>
            </a:r>
            <a:endParaRPr lang="en-US" sz="1200" dirty="0"/>
          </a:p>
        </p:txBody>
      </p:sp>
      <p:sp>
        <p:nvSpPr>
          <p:cNvPr id="8" name="Shape 6"/>
          <p:cNvSpPr/>
          <p:nvPr/>
        </p:nvSpPr>
        <p:spPr>
          <a:xfrm>
            <a:off x="2651760" y="1044702"/>
            <a:ext cx="3749040" cy="2020824"/>
          </a:xfrm>
          <a:prstGeom prst="rect">
            <a:avLst/>
          </a:prstGeom>
          <a:solidFill>
            <a:srgbClr val="EAF0F7"/>
          </a:solidFill>
          <a:ln w="12700">
            <a:solidFill>
              <a:srgbClr val="1F3A5F"/>
            </a:solidFill>
            <a:prstDash val="solid"/>
          </a:ln>
        </p:spPr>
      </p:sp>
      <p:sp>
        <p:nvSpPr>
          <p:cNvPr id="9" name="Text 7"/>
          <p:cNvSpPr txBox="1"/>
          <p:nvPr/>
        </p:nvSpPr>
        <p:spPr>
          <a:xfrm>
            <a:off x="2743200" y="1068019"/>
            <a:ext cx="1828800" cy="233172"/>
          </a:xfrm>
          <a:prstGeom prst="rect">
            <a:avLst/>
          </a:prstGeom>
          <a:noFill/>
        </p:spPr>
        <p:txBody>
          <a:bodyPr wrap="square" lIns="635" tIns="635" rIns="635" bIns="635" rtlCol="0" anchor="t"/>
          <a:lstStyle/>
          <a:p>
            <a:pPr marL="0" indent="0" algn="l">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Linux Kernel</a:t>
            </a:r>
            <a:endParaRPr lang="en-US" sz="1200" dirty="0"/>
          </a:p>
        </p:txBody>
      </p:sp>
      <p:sp>
        <p:nvSpPr>
          <p:cNvPr id="10" name="Text 8"/>
          <p:cNvSpPr txBox="1"/>
          <p:nvPr/>
        </p:nvSpPr>
        <p:spPr>
          <a:xfrm>
            <a:off x="2834640" y="1316736"/>
            <a:ext cx="3383280" cy="427482"/>
          </a:xfrm>
          <a:prstGeom prst="roundRect">
            <a:avLst>
              <a:gd name="adj" fmla="val 171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Permission check: UID/GID vs rwx</a:t>
            </a:r>
            <a:endParaRPr lang="en-US" sz="1200" dirty="0"/>
          </a:p>
        </p:txBody>
      </p:sp>
      <p:sp>
        <p:nvSpPr>
          <p:cNvPr id="11" name="Text 9"/>
          <p:cNvSpPr txBox="1"/>
          <p:nvPr/>
        </p:nvSpPr>
        <p:spPr>
          <a:xfrm>
            <a:off x="2834640" y="1860804"/>
            <a:ext cx="3383280" cy="427482"/>
          </a:xfrm>
          <a:prstGeom prst="roundRect">
            <a:avLst>
              <a:gd name="adj" fmla="val 171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File descriptor → open file table</a:t>
            </a:r>
            <a:endParaRPr lang="en-US" sz="1200" dirty="0"/>
          </a:p>
        </p:txBody>
      </p:sp>
      <p:sp>
        <p:nvSpPr>
          <p:cNvPr id="12" name="Text 10"/>
          <p:cNvSpPr txBox="1"/>
          <p:nvPr/>
        </p:nvSpPr>
        <p:spPr>
          <a:xfrm>
            <a:off x="2834640" y="2404872"/>
            <a:ext cx="3383280" cy="427482"/>
          </a:xfrm>
          <a:prstGeom prst="roundRect">
            <a:avLst>
              <a:gd name="adj" fmla="val 17112"/>
            </a:avLst>
          </a:prstGeom>
          <a:solidFill>
            <a:srgbClr val="FFFFFF"/>
          </a:solidFill>
          <a:ln w="12700">
            <a:solidFill>
              <a:srgbClr val="1F3A5F"/>
            </a:solidFill>
          </a:ln>
        </p:spPr>
        <p:txBody>
          <a:bodyPr wrap="square" lIns="508" tIns="508" rIns="508" bIns="508" rtlCol="0" anchor="ctr"/>
          <a:lstStyle/>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Inode + page cache</a:t>
            </a:r>
            <a:endParaRPr lang="en-US" sz="1200" dirty="0"/>
          </a:p>
        </p:txBody>
      </p:sp>
      <p:sp>
        <p:nvSpPr>
          <p:cNvPr id="13" name="Text 11"/>
          <p:cNvSpPr txBox="1"/>
          <p:nvPr/>
        </p:nvSpPr>
        <p:spPr>
          <a:xfrm>
            <a:off x="6858000" y="1472184"/>
            <a:ext cx="1828800" cy="1088136"/>
          </a:xfrm>
          <a:prstGeom prst="roundRect">
            <a:avLst>
              <a:gd name="adj" fmla="val 6723"/>
            </a:avLst>
          </a:prstGeom>
          <a:solidFill>
            <a:srgbClr val="1F3A5F"/>
          </a:solidFill>
          <a:ln w="12700">
            <a:solidFill>
              <a:srgbClr val="1F3A5F"/>
            </a:solidFill>
          </a:ln>
        </p:spPr>
        <p:txBody>
          <a:bodyPr wrap="square" lIns="508" tIns="508" rIns="508" bIns="508"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/srv/shared/report.txt</a:t>
            </a:r>
            <a:endParaRPr lang="en-US" sz="11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-rw-rw-r--</a:t>
            </a:r>
            <a:endParaRPr lang="en-US" sz="11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owner alice : group dev</a:t>
            </a:r>
            <a:endParaRPr lang="en-US" sz="1100" dirty="0"/>
          </a:p>
        </p:txBody>
      </p:sp>
      <p:sp>
        <p:nvSpPr>
          <p:cNvPr id="14" name="Shape 12"/>
          <p:cNvSpPr/>
          <p:nvPr/>
        </p:nvSpPr>
        <p:spPr>
          <a:xfrm>
            <a:off x="2194560" y="1456639"/>
            <a:ext cx="457200" cy="0"/>
          </a:xfrm>
          <a:prstGeom prst="line">
            <a:avLst/>
          </a:prstGeom>
          <a:noFill/>
          <a:ln w="22225">
            <a:solidFill>
              <a:srgbClr val="1F3A5F"/>
            </a:solidFill>
            <a:prstDash val="solid"/>
            <a:tailEnd type="triangle"/>
          </a:ln>
        </p:spPr>
      </p:sp>
      <p:sp>
        <p:nvSpPr>
          <p:cNvPr id="15" name="Shape 13"/>
          <p:cNvSpPr/>
          <p:nvPr/>
        </p:nvSpPr>
        <p:spPr>
          <a:xfrm>
            <a:off x="2194560" y="2544775"/>
            <a:ext cx="457200" cy="0"/>
          </a:xfrm>
          <a:prstGeom prst="line">
            <a:avLst/>
          </a:prstGeom>
          <a:noFill/>
          <a:ln w="22225">
            <a:solidFill>
              <a:srgbClr val="1F3A5F"/>
            </a:solidFill>
            <a:prstDash val="solid"/>
            <a:tailEnd type="triangle"/>
          </a:ln>
        </p:spPr>
      </p:sp>
      <p:sp>
        <p:nvSpPr>
          <p:cNvPr id="16" name="Shape 14"/>
          <p:cNvSpPr/>
          <p:nvPr/>
        </p:nvSpPr>
        <p:spPr>
          <a:xfrm>
            <a:off x="6400800" y="2016252"/>
            <a:ext cx="457200" cy="0"/>
          </a:xfrm>
          <a:prstGeom prst="line">
            <a:avLst/>
          </a:prstGeom>
          <a:noFill/>
          <a:ln w="22225">
            <a:solidFill>
              <a:srgbClr val="1F3A5F"/>
            </a:solidFill>
            <a:prstDash val="solid"/>
            <a:tailEnd type="triangle"/>
          </a:ln>
        </p:spPr>
      </p:sp>
      <p:sp>
        <p:nvSpPr>
          <p:cNvPr id="17" name="Text 15"/>
          <p:cNvSpPr txBox="1"/>
          <p:nvPr/>
        </p:nvSpPr>
        <p:spPr>
          <a:xfrm>
            <a:off x="457200" y="3259836"/>
            <a:ext cx="19202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Ownership</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UID + GID in inode</a:t>
            </a:r>
            <a:endParaRPr lang="en-US" sz="1200" dirty="0"/>
          </a:p>
        </p:txBody>
      </p:sp>
      <p:sp>
        <p:nvSpPr>
          <p:cNvPr id="18" name="Text 16"/>
          <p:cNvSpPr txBox="1"/>
          <p:nvPr/>
        </p:nvSpPr>
        <p:spPr>
          <a:xfrm>
            <a:off x="2560320" y="3259836"/>
            <a:ext cx="19202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Permissions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rwx for user, group, other</a:t>
            </a:r>
            <a:endParaRPr lang="en-US" sz="1200" dirty="0"/>
          </a:p>
        </p:txBody>
      </p:sp>
      <p:sp>
        <p:nvSpPr>
          <p:cNvPr id="19" name="Text 17"/>
          <p:cNvSpPr txBox="1"/>
          <p:nvPr/>
        </p:nvSpPr>
        <p:spPr>
          <a:xfrm>
            <a:off x="4663440" y="3259836"/>
            <a:ext cx="19202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Concurrent Access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flock() / fcntl() locks</a:t>
            </a:r>
            <a:endParaRPr lang="en-US" sz="1200" dirty="0"/>
          </a:p>
        </p:txBody>
      </p:sp>
      <p:sp>
        <p:nvSpPr>
          <p:cNvPr id="20" name="Text 18"/>
          <p:cNvSpPr txBox="1"/>
          <p:nvPr/>
        </p:nvSpPr>
        <p:spPr>
          <a:xfrm>
            <a:off x="6766560" y="3259836"/>
            <a:ext cx="1920240" cy="777240"/>
          </a:xfrm>
          <a:prstGeom prst="roundRect">
            <a:avLst>
              <a:gd name="adj" fmla="val 9412"/>
            </a:avLst>
          </a:prstGeom>
          <a:solidFill>
            <a:srgbClr val="FFFFFF"/>
          </a:solidFill>
          <a:ln w="12700">
            <a:solidFill>
              <a:srgbClr val="1F3A5F"/>
            </a:solidFill>
          </a:ln>
        </p:spPr>
        <p:txBody>
          <a:bodyPr wrap="square" lIns="508" tIns="508" rIns="508" bIns="508" rtlCol="0" anchor="ctr"/>
          <a:lstStyle/>
          <a:p>
            <a:pPr marL="0" indent="0" algn="ctr">
              <a:buNone/>
            </a:pP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Descriptors</a:t>
            </a:r>
            <a:endParaRPr lang="en-US" sz="1200" dirty="0"/>
          </a:p>
          <a:p>
            <a:pPr marL="0" indent="0" algn="ctr">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per-process fd table</a:t>
            </a:r>
            <a:endParaRPr lang="en-US" sz="1200" dirty="0"/>
          </a:p>
        </p:txBody>
      </p:sp>
      <p:sp>
        <p:nvSpPr>
          <p:cNvPr id="22" name="Shape 19"/>
          <p:cNvSpPr/>
          <p:nvPr/>
        </p:nvSpPr>
        <p:spPr>
          <a:xfrm>
            <a:off x="457200" y="4224528"/>
            <a:ext cx="8229600" cy="530352"/>
          </a:xfrm>
          <a:prstGeom prst="rect">
            <a:avLst/>
          </a:prstGeom>
          <a:solidFill>
            <a:srgbClr val="EAF0F7"/>
          </a:solidFill>
          <a:ln w="12700">
            <a:solidFill>
              <a:srgbClr val="EAF0F7"/>
            </a:solidFill>
            <a:prstDash val="solid"/>
          </a:ln>
        </p:spPr>
      </p:sp>
      <p:sp>
        <p:nvSpPr>
          <p:cNvPr id="23" name="Text 20"/>
          <p:cNvSpPr txBox="1"/>
          <p:nvPr/>
        </p:nvSpPr>
        <p:spPr>
          <a:xfrm>
            <a:off x="548640" y="4224528"/>
            <a:ext cx="8046720" cy="530352"/>
          </a:xfrm>
          <a:prstGeom prst="rect">
            <a:avLst/>
          </a:prstGeom>
          <a:noFill/>
        </p:spPr>
        <p:txBody>
          <a:bodyPr wrap="square" lIns="508" tIns="508" rIns="508" bIns="508" rtlCol="0" anchor="ctr"/>
          <a:lstStyle/>
          <a:p>
            <a:pPr marL="0" indent="0">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The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Kernel</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checks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Permissions</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on every open(), gives each process its own </a:t>
            </a:r>
            <a:r>
              <a:rPr lang="en-US" sz="12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descriptor</a:t>
            </a: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 and lets users share one inode safely, with locks for concurrent writes.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l">
              <a:buNone/>
            </a:pPr>
            <a:r>
              <a:rPr 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Summary and Conclusion</a:t>
            </a:r>
            <a:endParaRPr lang="en-US" sz="2600" dirty="0"/>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sp>
        <p:nvSpPr>
          <p:cNvPr id="4" name="Text 2"/>
          <p:cNvSpPr txBox="1"/>
          <p:nvPr/>
        </p:nvSpPr>
        <p:spPr>
          <a:xfrm>
            <a:off x="457200" y="4800600"/>
            <a:ext cx="5486400" cy="228600"/>
          </a:xfrm>
          <a:prstGeom prst="rect">
            <a:avLst/>
          </a:prstGeom>
          <a:noFill/>
        </p:spPr>
        <p:txBody>
          <a:bodyPr wrap="square" lIns="635" tIns="635" rIns="635" bIns="635" rtlCol="0" anchor="t"/>
          <a:lstStyle/>
          <a:p>
            <a:pPr marL="0" indent="0" algn="l">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Operating Systems  |  Galla Sai Siddartha  |  192425093</a:t>
            </a:r>
            <a:endParaRPr lang="en-US" sz="900" dirty="0"/>
          </a:p>
        </p:txBody>
      </p:sp>
      <p:sp>
        <p:nvSpPr>
          <p:cNvPr id="5" name="Text 3"/>
          <p:cNvSpPr txBox="1"/>
          <p:nvPr/>
        </p:nvSpPr>
        <p:spPr>
          <a:xfrm>
            <a:off x="8229600" y="4800600"/>
            <a:ext cx="457200" cy="228600"/>
          </a:xfrm>
          <a:prstGeom prst="rect">
            <a:avLst/>
          </a:prstGeom>
          <a:noFill/>
        </p:spPr>
        <p:txBody>
          <a:bodyPr wrap="square" lIns="635" tIns="635" rIns="635" bIns="635" rtlCol="0" anchor="t"/>
          <a:lstStyle/>
          <a:p>
            <a:pPr marL="0" indent="0" algn="r">
              <a:buNone/>
            </a:pPr>
            <a:r>
              <a:rPr lang="en-US" sz="900" dirty="0">
                <a:solidFill>
                  <a:srgbClr val="6B6B6B"/>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
        <p:nvSpPr>
          <p:cNvPr id="6" name="Text 4"/>
          <p:cNvSpPr txBox="1"/>
          <p:nvPr/>
        </p:nvSpPr>
        <p:spPr>
          <a:xfrm>
            <a:off x="457200" y="1044702"/>
            <a:ext cx="1737360" cy="582930"/>
          </a:xfrm>
          <a:prstGeom prst="roundRect">
            <a:avLst>
              <a:gd name="adj" fmla="val 12549"/>
            </a:avLst>
          </a:prstGeom>
          <a:solidFill>
            <a:srgbClr val="FFFFFF"/>
          </a:solidFill>
          <a:ln w="12700">
            <a:solidFill>
              <a:srgbClr val="1F3A5F"/>
            </a:solidFill>
          </a:ln>
        </p:spPr>
        <p:txBody>
          <a:bodyPr wrap="square" lIns="508" tIns="508" rIns="508" bIns="508"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User Processes</a:t>
            </a:r>
            <a:endParaRPr lang="en-US" sz="1400" dirty="0"/>
          </a:p>
        </p:txBody>
      </p:sp>
      <p:sp>
        <p:nvSpPr>
          <p:cNvPr id="7" name="Shape 5"/>
          <p:cNvSpPr/>
          <p:nvPr/>
        </p:nvSpPr>
        <p:spPr>
          <a:xfrm>
            <a:off x="2194560" y="1336167"/>
            <a:ext cx="427025" cy="0"/>
          </a:xfrm>
          <a:prstGeom prst="line">
            <a:avLst/>
          </a:prstGeom>
          <a:noFill/>
          <a:ln w="22225">
            <a:solidFill>
              <a:srgbClr val="1F3A5F"/>
            </a:solidFill>
            <a:prstDash val="solid"/>
            <a:tailEnd type="triangle"/>
          </a:ln>
        </p:spPr>
      </p:sp>
      <p:sp>
        <p:nvSpPr>
          <p:cNvPr id="8" name="Text 6"/>
          <p:cNvSpPr txBox="1"/>
          <p:nvPr/>
        </p:nvSpPr>
        <p:spPr>
          <a:xfrm>
            <a:off x="2621585" y="1044702"/>
            <a:ext cx="1737360" cy="582930"/>
          </a:xfrm>
          <a:prstGeom prst="roundRect">
            <a:avLst>
              <a:gd name="adj" fmla="val 12549"/>
            </a:avLst>
          </a:prstGeom>
          <a:solidFill>
            <a:srgbClr val="FFFFFF"/>
          </a:solidFill>
          <a:ln w="12700">
            <a:solidFill>
              <a:srgbClr val="1F3A5F"/>
            </a:solidFill>
          </a:ln>
        </p:spPr>
        <p:txBody>
          <a:bodyPr wrap="square" lIns="508" tIns="508" rIns="508" bIns="508"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System Calls</a:t>
            </a:r>
            <a:endParaRPr lang="en-US" sz="1400" dirty="0"/>
          </a:p>
        </p:txBody>
      </p:sp>
      <p:sp>
        <p:nvSpPr>
          <p:cNvPr id="9" name="Shape 7"/>
          <p:cNvSpPr/>
          <p:nvPr/>
        </p:nvSpPr>
        <p:spPr>
          <a:xfrm>
            <a:off x="4358945" y="1336167"/>
            <a:ext cx="427025" cy="0"/>
          </a:xfrm>
          <a:prstGeom prst="line">
            <a:avLst/>
          </a:prstGeom>
          <a:noFill/>
          <a:ln w="22225">
            <a:solidFill>
              <a:srgbClr val="1F3A5F"/>
            </a:solidFill>
            <a:prstDash val="solid"/>
            <a:tailEnd type="triangle"/>
          </a:ln>
        </p:spPr>
      </p:sp>
      <p:sp>
        <p:nvSpPr>
          <p:cNvPr id="10" name="Text 8"/>
          <p:cNvSpPr txBox="1"/>
          <p:nvPr/>
        </p:nvSpPr>
        <p:spPr>
          <a:xfrm>
            <a:off x="4785970" y="1044702"/>
            <a:ext cx="1737360" cy="582930"/>
          </a:xfrm>
          <a:prstGeom prst="roundRect">
            <a:avLst>
              <a:gd name="adj" fmla="val 12549"/>
            </a:avLst>
          </a:prstGeom>
          <a:solidFill>
            <a:srgbClr val="1F3A5F"/>
          </a:solidFill>
          <a:ln w="12700">
            <a:solidFill>
              <a:srgbClr val="1F3A5F"/>
            </a:solidFill>
          </a:ln>
        </p:spPr>
        <p:txBody>
          <a:bodyPr wrap="square" lIns="508" tIns="508" rIns="508" bIns="508"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Linux Kernel</a:t>
            </a:r>
            <a:endParaRPr lang="en-US" sz="1400" dirty="0"/>
          </a:p>
        </p:txBody>
      </p:sp>
      <p:sp>
        <p:nvSpPr>
          <p:cNvPr id="11" name="Shape 9"/>
          <p:cNvSpPr/>
          <p:nvPr/>
        </p:nvSpPr>
        <p:spPr>
          <a:xfrm>
            <a:off x="6523330" y="1336167"/>
            <a:ext cx="427025" cy="0"/>
          </a:xfrm>
          <a:prstGeom prst="line">
            <a:avLst/>
          </a:prstGeom>
          <a:noFill/>
          <a:ln w="22225">
            <a:solidFill>
              <a:srgbClr val="1F3A5F"/>
            </a:solidFill>
            <a:prstDash val="solid"/>
            <a:tailEnd type="triangle"/>
          </a:ln>
        </p:spPr>
      </p:sp>
      <p:sp>
        <p:nvSpPr>
          <p:cNvPr id="12" name="Text 10"/>
          <p:cNvSpPr txBox="1"/>
          <p:nvPr/>
        </p:nvSpPr>
        <p:spPr>
          <a:xfrm>
            <a:off x="6950354" y="1044702"/>
            <a:ext cx="1737360" cy="582930"/>
          </a:xfrm>
          <a:prstGeom prst="roundRect">
            <a:avLst>
              <a:gd name="adj" fmla="val 12549"/>
            </a:avLst>
          </a:prstGeom>
          <a:solidFill>
            <a:srgbClr val="FFFFFF"/>
          </a:solidFill>
          <a:ln w="12700">
            <a:solidFill>
              <a:srgbClr val="1F3A5F"/>
            </a:solidFill>
          </a:ln>
        </p:spPr>
        <p:txBody>
          <a:bodyPr wrap="square" lIns="508" tIns="508" rIns="508" bIns="508"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System Resources</a:t>
            </a:r>
            <a:endParaRPr lang="en-US" sz="1400" dirty="0"/>
          </a:p>
        </p:txBody>
      </p:sp>
      <p:sp>
        <p:nvSpPr>
          <p:cNvPr id="13" name="Shape 11"/>
          <p:cNvSpPr/>
          <p:nvPr/>
        </p:nvSpPr>
        <p:spPr>
          <a:xfrm>
            <a:off x="457200" y="1860804"/>
            <a:ext cx="2560320" cy="1399032"/>
          </a:xfrm>
          <a:prstGeom prst="rect">
            <a:avLst/>
          </a:prstGeom>
          <a:solidFill>
            <a:srgbClr val="FFFFFF"/>
          </a:solidFill>
          <a:ln w="9525">
            <a:solidFill>
              <a:srgbClr val="BFB8A8"/>
            </a:solidFill>
            <a:prstDash val="solid"/>
          </a:ln>
        </p:spPr>
      </p:sp>
      <p:sp>
        <p:nvSpPr>
          <p:cNvPr id="14" name="Text 12"/>
          <p:cNvSpPr txBox="1"/>
          <p:nvPr/>
        </p:nvSpPr>
        <p:spPr>
          <a:xfrm>
            <a:off x="548640" y="1915211"/>
            <a:ext cx="2377440" cy="310896"/>
          </a:xfrm>
          <a:prstGeom prst="rect">
            <a:avLst/>
          </a:prstGeom>
          <a:noFill/>
        </p:spPr>
        <p:txBody>
          <a:bodyPr wrap="square" lIns="635" tIns="635" rIns="635" bIns="635" rtlCol="0" anchor="t"/>
          <a:lstStyle/>
          <a:p>
            <a:pPr marL="0" indent="0" algn="l">
              <a:buNone/>
            </a:pP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Resource Management</a:t>
            </a:r>
            <a:endParaRPr lang="en-US" sz="1400" dirty="0"/>
          </a:p>
        </p:txBody>
      </p:sp>
      <p:sp>
        <p:nvSpPr>
          <p:cNvPr id="15" name="Text 13"/>
          <p:cNvSpPr txBox="1"/>
          <p:nvPr/>
        </p:nvSpPr>
        <p:spPr>
          <a:xfrm>
            <a:off x="548640" y="2249424"/>
            <a:ext cx="2377440" cy="932688"/>
          </a:xfrm>
          <a:prstGeom prst="rect">
            <a:avLst/>
          </a:prstGeom>
          <a:noFill/>
        </p:spPr>
        <p:txBody>
          <a:bodyPr wrap="square" lIns="635" tIns="635" rIns="635" bIns="635" rtlCol="0" anchor="t"/>
          <a:lstStyle/>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Process, memory, file, device</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Security and protection</a:t>
            </a:r>
            <a:endParaRPr lang="en-US" sz="1300" dirty="0"/>
          </a:p>
        </p:txBody>
      </p:sp>
      <p:sp>
        <p:nvSpPr>
          <p:cNvPr id="16" name="Shape 14"/>
          <p:cNvSpPr/>
          <p:nvPr/>
        </p:nvSpPr>
        <p:spPr>
          <a:xfrm>
            <a:off x="3291840" y="1860804"/>
            <a:ext cx="2560320" cy="1399032"/>
          </a:xfrm>
          <a:prstGeom prst="rect">
            <a:avLst/>
          </a:prstGeom>
          <a:solidFill>
            <a:srgbClr val="FFFFFF"/>
          </a:solidFill>
          <a:ln w="9525">
            <a:solidFill>
              <a:srgbClr val="BFB8A8"/>
            </a:solidFill>
            <a:prstDash val="solid"/>
          </a:ln>
        </p:spPr>
      </p:sp>
      <p:sp>
        <p:nvSpPr>
          <p:cNvPr id="17" name="Text 15"/>
          <p:cNvSpPr txBox="1"/>
          <p:nvPr/>
        </p:nvSpPr>
        <p:spPr>
          <a:xfrm>
            <a:off x="3383280" y="1915211"/>
            <a:ext cx="2377440" cy="310896"/>
          </a:xfrm>
          <a:prstGeom prst="rect">
            <a:avLst/>
          </a:prstGeom>
          <a:noFill/>
        </p:spPr>
        <p:txBody>
          <a:bodyPr wrap="square" lIns="635" tIns="635" rIns="635" bIns="635" rtlCol="0" anchor="t"/>
          <a:lstStyle/>
          <a:p>
            <a:pPr marL="0" indent="0" algn="l">
              <a:buNone/>
            </a:pP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File / Device Calls</a:t>
            </a:r>
            <a:endParaRPr lang="en-US" sz="1400" dirty="0"/>
          </a:p>
        </p:txBody>
      </p:sp>
      <p:sp>
        <p:nvSpPr>
          <p:cNvPr id="18" name="Text 16"/>
          <p:cNvSpPr txBox="1"/>
          <p:nvPr/>
        </p:nvSpPr>
        <p:spPr>
          <a:xfrm>
            <a:off x="3383280" y="2249424"/>
            <a:ext cx="2377440" cy="932688"/>
          </a:xfrm>
          <a:prstGeom prst="rect">
            <a:avLst/>
          </a:prstGeom>
          <a:noFill/>
        </p:spPr>
        <p:txBody>
          <a:bodyPr wrap="square" lIns="635" tIns="635" rIns="635" bIns="635" rtlCol="0" anchor="t"/>
          <a:lstStyle/>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open, read, write, close</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lseek, stat, unlink, ioctl</a:t>
            </a:r>
            <a:endParaRPr lang="en-US" sz="1300" dirty="0"/>
          </a:p>
        </p:txBody>
      </p:sp>
      <p:sp>
        <p:nvSpPr>
          <p:cNvPr id="19" name="Shape 17"/>
          <p:cNvSpPr/>
          <p:nvPr/>
        </p:nvSpPr>
        <p:spPr>
          <a:xfrm>
            <a:off x="6126480" y="1860804"/>
            <a:ext cx="2560320" cy="1399032"/>
          </a:xfrm>
          <a:prstGeom prst="rect">
            <a:avLst/>
          </a:prstGeom>
          <a:solidFill>
            <a:srgbClr val="FFFFFF"/>
          </a:solidFill>
          <a:ln w="9525">
            <a:solidFill>
              <a:srgbClr val="BFB8A8"/>
            </a:solidFill>
            <a:prstDash val="solid"/>
          </a:ln>
        </p:spPr>
      </p:sp>
      <p:sp>
        <p:nvSpPr>
          <p:cNvPr id="20" name="Text 18"/>
          <p:cNvSpPr txBox="1"/>
          <p:nvPr/>
        </p:nvSpPr>
        <p:spPr>
          <a:xfrm>
            <a:off x="6217920" y="1915211"/>
            <a:ext cx="2377440" cy="310896"/>
          </a:xfrm>
          <a:prstGeom prst="rect">
            <a:avLst/>
          </a:prstGeom>
          <a:noFill/>
        </p:spPr>
        <p:txBody>
          <a:bodyPr wrap="square" lIns="635" tIns="635" rIns="635" bIns="635" rtlCol="0" anchor="t"/>
          <a:lstStyle/>
          <a:p>
            <a:pPr marL="0" indent="0" algn="l">
              <a:buNone/>
            </a:pPr>
            <a:r>
              <a:rPr lang="en-US" sz="1400" b="1" dirty="0">
                <a:solidFill>
                  <a:srgbClr val="1F3A5F"/>
                </a:solidFill>
                <a:latin typeface="Calibri" panose="020F0502020204030204" pitchFamily="34" charset="0"/>
                <a:ea typeface="Calibri" panose="020F0502020204030204" pitchFamily="34" charset="-122"/>
                <a:cs typeface="Calibri" panose="020F0502020204030204" pitchFamily="34" charset="-120"/>
              </a:rPr>
              <a:t>User–Kernel Interaction</a:t>
            </a:r>
            <a:endParaRPr lang="en-US" sz="1400" dirty="0"/>
          </a:p>
        </p:txBody>
      </p:sp>
      <p:sp>
        <p:nvSpPr>
          <p:cNvPr id="21" name="Text 19"/>
          <p:cNvSpPr txBox="1"/>
          <p:nvPr/>
        </p:nvSpPr>
        <p:spPr>
          <a:xfrm>
            <a:off x="6217920" y="2249424"/>
            <a:ext cx="2377440" cy="932688"/>
          </a:xfrm>
          <a:prstGeom prst="rect">
            <a:avLst/>
          </a:prstGeom>
          <a:noFill/>
        </p:spPr>
        <p:txBody>
          <a:bodyPr wrap="square" lIns="635" tIns="635" rIns="635" bIns="635" rtlCol="0" anchor="t"/>
          <a:lstStyle/>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User Mode ↔ Kernel Mode</a:t>
            </a:r>
            <a:endParaRPr lang="en-US" sz="1300" dirty="0"/>
          </a:p>
          <a:p>
            <a:pPr marL="177800" indent="-177800" algn="l">
              <a:spcAft>
                <a:spcPts val="6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Trap, service, return</a:t>
            </a:r>
            <a:endParaRPr lang="en-US" sz="1300" dirty="0"/>
          </a:p>
        </p:txBody>
      </p:sp>
      <p:sp>
        <p:nvSpPr>
          <p:cNvPr id="22" name="Text 20"/>
          <p:cNvSpPr txBox="1"/>
          <p:nvPr/>
        </p:nvSpPr>
        <p:spPr>
          <a:xfrm>
            <a:off x="457200" y="3454146"/>
            <a:ext cx="8229600" cy="621792"/>
          </a:xfrm>
          <a:prstGeom prst="roundRect">
            <a:avLst>
              <a:gd name="adj" fmla="val 11765"/>
            </a:avLst>
          </a:prstGeom>
          <a:solidFill>
            <a:srgbClr val="1F3A5F"/>
          </a:solidFill>
          <a:ln w="12700">
            <a:solidFill>
              <a:srgbClr val="1F3A5F"/>
            </a:solidFill>
          </a:ln>
        </p:spPr>
        <p:txBody>
          <a:bodyPr wrap="square" lIns="508" tIns="508" rIns="508" bIns="508"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The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Kernel</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manages shared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CPU</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Memory</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files and devices, and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System Calls</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give users safe, controlled access.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p:spPr>
        <p:txBody>
          <a:bodyPr wrap="square" lIns="635" tIns="635" rIns="635" bIns="635" rtlCol="0" anchor="ctr"/>
          <a:lstStyle/>
          <a:p>
            <a:pPr marL="0" indent="0" algn="ctr">
              <a:buNone/>
            </a:pPr>
            <a:r>
              <a:rPr lang="en-IN" alt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rPr>
              <a:t>Geotag Photo</a:t>
            </a:r>
            <a:endParaRPr lang="en-IN" altLang="en-US" sz="2600" b="1" dirty="0">
              <a:solidFill>
                <a:srgbClr val="1F3A5F"/>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Shape 1"/>
          <p:cNvSpPr/>
          <p:nvPr/>
        </p:nvSpPr>
        <p:spPr>
          <a:xfrm>
            <a:off x="457200" y="804672"/>
            <a:ext cx="8229600" cy="27432"/>
          </a:xfrm>
          <a:prstGeom prst="rect">
            <a:avLst/>
          </a:prstGeom>
          <a:solidFill>
            <a:srgbClr val="1F3A5F"/>
          </a:solidFill>
          <a:ln w="12700">
            <a:solidFill>
              <a:srgbClr val="1F3A5F"/>
            </a:solidFill>
            <a:prstDash val="solid"/>
          </a:ln>
        </p:spPr>
      </p:sp>
      <p:pic>
        <p:nvPicPr>
          <p:cNvPr id="23" name="Picture 22"/>
          <p:cNvPicPr/>
          <p:nvPr/>
        </p:nvPicPr>
        <p:blipFill>
          <a:blip r:embed="rId1"/>
          <a:stretch>
            <a:fillRect/>
          </a:stretch>
        </p:blipFill>
        <p:spPr>
          <a:xfrm>
            <a:off x="1781175" y="1000760"/>
            <a:ext cx="5581650" cy="37039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4532</Words>
  <Application>WPS Presentation</Application>
  <PresentationFormat>On-screen Show (16:9)</PresentationFormat>
  <Paragraphs>293</Paragraphs>
  <Slides>9</Slides>
  <Notes>8</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vt:i4>
      </vt:variant>
    </vt:vector>
  </HeadingPairs>
  <TitlesOfParts>
    <vt:vector size="19" baseType="lpstr">
      <vt:lpstr>Arial</vt:lpstr>
      <vt:lpstr>SimSun</vt:lpstr>
      <vt:lpstr>Wingdings</vt:lpstr>
      <vt:lpstr>Calibri</vt:lpstr>
      <vt:lpstr>Calibri</vt:lpstr>
      <vt:lpstr>Calibri</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 Multi-User Linux Server</dc:title>
  <dc:creator>Galla Sai Siddartha</dc:creator>
  <dc:subject>PptxGenJS Presentation</dc:subject>
  <cp:lastModifiedBy>Siddartha Galla</cp:lastModifiedBy>
  <cp:revision>2</cp:revision>
  <dcterms:created xsi:type="dcterms:W3CDTF">2026-10-05T03:59:00Z</dcterms:created>
  <dcterms:modified xsi:type="dcterms:W3CDTF">2026-10-05T04:29:18Z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60B934C5E2C441988507D2BCC2AE5C3A_12</vt:lpwstr>
  </property>
</Properties>
</file>